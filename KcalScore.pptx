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project is KcalScore, a calorie tracker. But it doesn’t just count calories: it also gives every food one score out of 100 that takes nutrition and processing into account, so you get the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I looked at what already exists. MyFitnessPal is great for counting calories and logging your day, but it doesn’t tell you how processed food is. Yuka scores food and flags additives, but it doesn’t track your daily intake. Fooducate is the closest: it tracks calories and grades food, but processing is only one small part of its grade. The Open Food Facts app has all the data but no daily log. KcalScore combines a daily log with one simple score out of 100, using my own method that clearly penalises ultra-processed food. (Based on the free versions of each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 relies on two real scoring systems. NOVA groups foods by how processed they are; it was developed by researchers at the University of São Paulo. Nutri-Score rates overall nutrition from A to E and is used on food packaging in several European countries. For the data, I compared four APIs. TheMealDB, which my teacher suggested, helped me learn how APIs work, but it has recipes, not calories. The FSA API is for restaurant hygiene ratings. USDA has good nutrition data but no processing level. Open Food Facts has calories, NOVA and Nutri-Score, it’s free and needs no API key, so I chose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foods can have similar calories but be very different for you. A bowl of oats and a bowl of sugary cereal are close in calories, but one is barely processed and one is ultra-processed. So my app shows calories plus one Food Score out of 100, which combines nutrition and processing. The app is for anyone tracking their food. And a big goal for me is learning how to use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aim is the big picture: helping people understand the overall quality of their food, not just calories. My objectives are the specific, measurable steps to get there. O1 is getting the data, which I’ve already started. O2 is showing calories and my Food Score. O3 is the daily log. O4 is a Food Score for your whole day. O5 is testing it with real people and delivering it by week 11. Each one maps onto my weekly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means Minimum Viable Product: the simplest version that does the main job. Mine is a website where you look up a food, see its calories and Food Score, add it to today’s log and see your daily total. Things like a phone app, camera scanning and accounts are useful but not essential, so they come after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search for a food, my app sends a request to the Open Food Facts API. It sends back data in a format called JSON, like this example. My code picks out the calories, the Nutri-Score and the NOVA group, then turns the last two into my Food Score. My teacher showed me TheMealDB, which helped me learn how APIs work, but it has recipes, not calories, so I chose Open Food Facts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see one number: the Food Score out of 100. Behind it, I start with nutrition points from the Nutri-Score grade, then take points off if the food is processed or ultra-processed, using the NOVA data from the API. Users never need to understand NOVA; it just lowers the score of processed food. This is my own scoring method, so I’ll test these weights with users in week 9 and adjust them if the results feel wrong. Example grades here are illustrations.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working Python script. [Switch to VS Code and run it.] First the user types a barcode. The code puts it into the API address and sends a request to Open Food Facts. The data comes back as JSON, and I print the status code: 200 means it worked. Then I check the product exists, so a wrong barcode shows a message instead of crashing. Finally I pull out the name, calories, NOVA group and Nutri-Score. Try one healthy product and one ultra-processed one, then a fake barcode like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already done step one: I wrote a Python script that pulls food data from the API and saves it into a spreadsheet. Next I’ll build it as a website, where you can search foods and log them. Then I’ll add my Food Score. Finally I’ll turn it into a phone app, and maybe add barcode scanning since the API supports looking foods up by barcode.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week-by-week plan. Week 1 is already done: my Python script works and the project is set up. Week 2 is research and design: I’ll write user stories and sketch each screen. Weeks 3 and 4 move the code to a website using JavaScript’s fetch, which works the same way as Python’s requests. Week 5 adds my Food Score, and week 6 adds searching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7 and 8 build the daily log: adding foods with a portion size, the daily total, and an average Food Score for the day. Week 9 is making it work well on phones and testing it with five people. Week 10 is fixing whatever they find and writing documentation. Week 11 is the MVP launch: the website goes online and I demo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in one place on GitHub. Git holds the code: I commit after every work session with a clear message, so the history shows exactly what changed each week. GitHub’s project board holds the plan: each week is a milestone, and tasks move across the board as I finish them, so you can see what I planned against what I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630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0980"/>
            <a:ext cx="10566400" cy="4074220"/>
          </a:xfrm>
          <a:prstGeom prst="rect">
            <a:avLst/>
          </a:prstGeom>
          <a:noFill/>
          <a:ln/>
        </p:spPr>
        <p:txBody>
          <a:bodyPr wrap="square" lIns="0" tIns="0" rIns="0" bIns="0" rtlCol="0" anchor="t"/>
          <a:lstStyle>
            <a:lvl1pPr algn="l" indent="0" marL="0">
              <a:lnSpc>
                <a:spcPct val="140000"/>
              </a:lnSpc>
              <a:buNone/>
              <a:defRPr lang="en-US" sz="1600" dirty="0">
                <a:solidFill>
                  <a:srgbClr val="16302B"/>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6302B"/>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0980"/>
            <a:ext cx="10566400" cy="4074220"/>
          </a:xfrm>
          <a:prstGeom prst="rect">
            <a:avLst/>
          </a:prstGeom>
          <a:noFill/>
          <a:ln/>
        </p:spPr>
        <p:txBody>
          <a:bodyPr wrap="square" lIns="0" tIns="0" rIns="0" bIns="0" rtlCol="0" anchor="t"/>
          <a:lstStyle>
            <a:lvl1pPr algn="l" indent="0" marL="0">
              <a:lnSpc>
                <a:spcPct val="140000"/>
              </a:lnSpc>
              <a:buNone/>
              <a:defRPr lang="en-US" sz="1600" dirty="0">
                <a:solidFill>
                  <a:srgbClr val="16302B"/>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812800" y="183391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A25C"/>
                </a:solidFill>
                <a:latin typeface="Nunito Sans" pitchFamily="34" charset="0"/>
                <a:ea typeface="Nunito Sans" pitchFamily="34" charset="-122"/>
                <a:cs typeface="Nunito Sans" pitchFamily="34" charset="-120"/>
              </a:rPr>
              <a:t>APP PROJECT</a:t>
            </a:r>
            <a:endParaRPr lang="en-US" sz="1600" dirty="0"/>
          </a:p>
        </p:txBody>
      </p:sp>
      <p:sp>
        <p:nvSpPr>
          <p:cNvPr id="3" name="Text 1"/>
          <p:cNvSpPr/>
          <p:nvPr>
            <p:ph type="title"/>
          </p:nvPr>
        </p:nvSpPr>
        <p:spPr>
          <a:xfrm>
            <a:off x="812800" y="237237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3F6F0"/>
                </a:solidFill>
                <a:latin typeface="Rubik" pitchFamily="34" charset="0"/>
                <a:ea typeface="Rubik" pitchFamily="34" charset="-122"/>
                <a:cs typeface="Rubik" pitchFamily="34" charset="-120"/>
              </a:rPr>
              <a:t>KcalScore</a:t>
            </a:r>
            <a:endParaRPr lang="en-US" sz="8000" dirty="0"/>
          </a:p>
        </p:txBody>
      </p:sp>
      <p:sp>
        <p:nvSpPr>
          <p:cNvPr id="4" name="Text 2"/>
          <p:cNvSpPr/>
          <p:nvPr/>
        </p:nvSpPr>
        <p:spPr>
          <a:xfrm>
            <a:off x="812800" y="3642370"/>
            <a:ext cx="78486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3CB"/>
                </a:solidFill>
                <a:latin typeface="Nunito Sans" pitchFamily="34" charset="0"/>
                <a:ea typeface="Nunito Sans" pitchFamily="34" charset="-122"/>
                <a:cs typeface="Nunito Sans" pitchFamily="34" charset="-120"/>
              </a:rPr>
              <a:t>Know what’s really in your food: the calories, how processed it is, and its overall score.</a:t>
            </a:r>
            <a:endParaRPr lang="en-US" sz="2200" dirty="0"/>
          </a:p>
        </p:txBody>
      </p:sp>
      <p:sp>
        <p:nvSpPr>
          <p:cNvPr id="5" name="Text 3"/>
          <p:cNvSpPr/>
          <p:nvPr/>
        </p:nvSpPr>
        <p:spPr>
          <a:xfrm>
            <a:off x="812800" y="4622750"/>
            <a:ext cx="1013222" cy="401290"/>
          </a:xfrm>
          <a:prstGeom prst="roundRect">
            <a:avLst>
              <a:gd name="adj" fmla="val 50000"/>
            </a:avLst>
          </a:prstGeom>
          <a:solidFill>
            <a:srgbClr val="244A42"/>
          </a:solidFill>
          <a:ln/>
        </p:spPr>
        <p:txBody>
          <a:bodyPr wrap="none" lIns="0" tIns="0" rIns="0" bIns="0" rtlCol="0" anchor="ctr">
            <a:normAutofit/>
          </a:bodyPr>
          <a:lstStyle/>
          <a:p>
            <a:pPr algn="ctr" indent="0" marL="0">
              <a:lnSpc>
                <a:spcPts val="1960"/>
              </a:lnSpc>
              <a:buNone/>
            </a:pPr>
            <a:r>
              <a:rPr lang="en-US" sz="1400" b="1" dirty="0">
                <a:solidFill>
                  <a:srgbClr val="F3F6F0"/>
                </a:solidFill>
                <a:latin typeface="Nunito Sans" pitchFamily="34" charset="0"/>
                <a:ea typeface="Nunito Sans" pitchFamily="34" charset="-122"/>
                <a:cs typeface="Nunito Sans" pitchFamily="34" charset="-120"/>
              </a:rPr>
              <a:t>Calories</a:t>
            </a:r>
            <a:endParaRPr lang="en-US" sz="1400" dirty="0"/>
          </a:p>
        </p:txBody>
      </p:sp>
      <p:sp>
        <p:nvSpPr>
          <p:cNvPr id="6" name="Text 4"/>
          <p:cNvSpPr/>
          <p:nvPr/>
        </p:nvSpPr>
        <p:spPr>
          <a:xfrm>
            <a:off x="1978422" y="4622750"/>
            <a:ext cx="1668760" cy="401290"/>
          </a:xfrm>
          <a:prstGeom prst="roundRect">
            <a:avLst>
              <a:gd name="adj" fmla="val 50000"/>
            </a:avLst>
          </a:prstGeom>
          <a:solidFill>
            <a:srgbClr val="244A42"/>
          </a:solidFill>
          <a:ln/>
        </p:spPr>
        <p:txBody>
          <a:bodyPr wrap="none" lIns="0" tIns="0" rIns="0" bIns="0" rtlCol="0" anchor="ctr">
            <a:normAutofit/>
          </a:bodyPr>
          <a:lstStyle/>
          <a:p>
            <a:pPr algn="ctr" indent="0" marL="0">
              <a:lnSpc>
                <a:spcPts val="1960"/>
              </a:lnSpc>
              <a:buNone/>
            </a:pPr>
            <a:r>
              <a:rPr lang="en-US" sz="1400" b="1" dirty="0">
                <a:solidFill>
                  <a:srgbClr val="F3F6F0"/>
                </a:solidFill>
                <a:latin typeface="Nunito Sans" pitchFamily="34" charset="0"/>
                <a:ea typeface="Nunito Sans" pitchFamily="34" charset="-122"/>
                <a:cs typeface="Nunito Sans" pitchFamily="34" charset="-120"/>
              </a:rPr>
              <a:t>Processing level</a:t>
            </a:r>
            <a:endParaRPr lang="en-US" sz="1400" dirty="0"/>
          </a:p>
        </p:txBody>
      </p:sp>
      <p:sp>
        <p:nvSpPr>
          <p:cNvPr id="7" name="Text 5"/>
          <p:cNvSpPr/>
          <p:nvPr/>
        </p:nvSpPr>
        <p:spPr>
          <a:xfrm>
            <a:off x="3799582" y="4622750"/>
            <a:ext cx="1231950" cy="401290"/>
          </a:xfrm>
          <a:prstGeom prst="roundRect">
            <a:avLst>
              <a:gd name="adj" fmla="val 50000"/>
            </a:avLst>
          </a:prstGeom>
          <a:solidFill>
            <a:srgbClr val="244A42"/>
          </a:solidFill>
          <a:ln/>
        </p:spPr>
        <p:txBody>
          <a:bodyPr wrap="none" lIns="0" tIns="0" rIns="0" bIns="0" rtlCol="0" anchor="ctr">
            <a:normAutofit/>
          </a:bodyPr>
          <a:lstStyle/>
          <a:p>
            <a:pPr algn="ctr" indent="0" marL="0">
              <a:lnSpc>
                <a:spcPts val="1960"/>
              </a:lnSpc>
              <a:buNone/>
            </a:pPr>
            <a:r>
              <a:rPr lang="en-US" sz="1400" b="1" dirty="0">
                <a:solidFill>
                  <a:srgbClr val="F3F6F0"/>
                </a:solidFill>
                <a:latin typeface="Nunito Sans" pitchFamily="34" charset="0"/>
                <a:ea typeface="Nunito Sans" pitchFamily="34" charset="-122"/>
                <a:cs typeface="Nunito Sans" pitchFamily="34" charset="-120"/>
              </a:rPr>
              <a:t>Food score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BACKGROUND REVIEW</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Existing apps do one part each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3680"/>
          <a:ext cx="10553700" cy="2476500"/>
        </p:xfrm>
        <a:graphic>
          <a:graphicData uri="http://schemas.openxmlformats.org/drawingml/2006/table">
            <a:tbl>
              <a:tblPr/>
              <a:tblGrid>
                <a:gridCol w="2955036"/>
                <a:gridCol w="1899666"/>
                <a:gridCol w="1899666"/>
                <a:gridCol w="1899666"/>
                <a:gridCol w="1899666"/>
              </a:tblGrid>
              <a:tr h="412750">
                <a:tc>
                  <a:txBody>
                    <a:bodyPr/>
                    <a:lstStyle/>
                    <a:p>
                      <a:pPr indent="0" marL="0">
                        <a:lnSpc>
                          <a:spcPts val="2100"/>
                        </a:lnSpc>
                        <a:buNone/>
                      </a:pPr>
                      <a:r>
                        <a:rPr lang="en-US" sz="1500" b="1" dirty="0">
                          <a:solidFill>
                            <a:srgbClr val="16302B"/>
                          </a:solidFill>
                          <a:latin typeface="Nunito Sans" pitchFamily="34" charset="0"/>
                          <a:ea typeface="Nunito Sans" pitchFamily="34" charset="-122"/>
                          <a:cs typeface="Nunito Sans" pitchFamily="34" charset="-120"/>
                        </a:rPr>
                        <a:t>App</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algn="ctr" indent="0" marL="0">
                        <a:lnSpc>
                          <a:spcPts val="2100"/>
                        </a:lnSpc>
                        <a:buNone/>
                      </a:pPr>
                      <a:r>
                        <a:rPr lang="en-US" sz="1500" b="1" dirty="0">
                          <a:solidFill>
                            <a:srgbClr val="16302B"/>
                          </a:solidFill>
                          <a:latin typeface="Nunito Sans" pitchFamily="34" charset="0"/>
                          <a:ea typeface="Nunito Sans" pitchFamily="34" charset="-122"/>
                          <a:cs typeface="Nunito Sans" pitchFamily="34" charset="-120"/>
                        </a:rPr>
                        <a:t>Calories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algn="ctr" indent="0" marL="0">
                        <a:lnSpc>
                          <a:spcPts val="2100"/>
                        </a:lnSpc>
                        <a:buNone/>
                      </a:pPr>
                      <a:r>
                        <a:rPr lang="en-US" sz="1500" b="1" dirty="0">
                          <a:solidFill>
                            <a:srgbClr val="16302B"/>
                          </a:solidFill>
                          <a:latin typeface="Nunito Sans" pitchFamily="34" charset="0"/>
                          <a:ea typeface="Nunito Sans" pitchFamily="34" charset="-122"/>
                          <a:cs typeface="Nunito Sans" pitchFamily="34" charset="-120"/>
                        </a:rPr>
                        <a:t>Processing level</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algn="ctr" indent="0" marL="0">
                        <a:lnSpc>
                          <a:spcPts val="2100"/>
                        </a:lnSpc>
                        <a:buNone/>
                      </a:pPr>
                      <a:r>
                        <a:rPr lang="en-US" sz="1500" b="1" dirty="0">
                          <a:solidFill>
                            <a:srgbClr val="16302B"/>
                          </a:solidFill>
                          <a:latin typeface="Nunito Sans" pitchFamily="34" charset="0"/>
                          <a:ea typeface="Nunito Sans" pitchFamily="34" charset="-122"/>
                          <a:cs typeface="Nunito Sans" pitchFamily="34" charset="-120"/>
                        </a:rPr>
                        <a:t>Overall score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algn="ctr" indent="0" marL="0">
                        <a:lnSpc>
                          <a:spcPts val="2100"/>
                        </a:lnSpc>
                        <a:buNone/>
                      </a:pPr>
                      <a:r>
                        <a:rPr lang="en-US" sz="1500" b="1" dirty="0">
                          <a:solidFill>
                            <a:srgbClr val="16302B"/>
                          </a:solidFill>
                          <a:latin typeface="Nunito Sans" pitchFamily="34" charset="0"/>
                          <a:ea typeface="Nunito Sans" pitchFamily="34" charset="-122"/>
                          <a:cs typeface="Nunito Sans" pitchFamily="34" charset="-120"/>
                        </a:rPr>
                        <a:t>Daily log</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r>
              <a:tr h="412750">
                <a:tc>
                  <a:txBody>
                    <a:bodyPr/>
                    <a:lstStyle/>
                    <a:p>
                      <a:pP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MyFitnessPal</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No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No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Yuka</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Additives only</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No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Fooducate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Partly</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Open Food Facts app</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algn="ctr" indent="0" marL="0">
                        <a:lnSpc>
                          <a:spcPts val="2100"/>
                        </a:lnSpc>
                        <a:buNone/>
                      </a:pPr>
                      <a:r>
                        <a:rPr lang="en-US" sz="1500" dirty="0">
                          <a:solidFill>
                            <a:srgbClr val="16302B"/>
                          </a:solidFill>
                          <a:latin typeface="Nunito Sans" pitchFamily="34" charset="0"/>
                          <a:ea typeface="Nunito Sans" pitchFamily="34" charset="-122"/>
                          <a:cs typeface="Nunito Sans" pitchFamily="34" charset="-120"/>
                        </a:rPr>
                        <a:t>No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F2A25C"/>
                          </a:solidFill>
                          <a:latin typeface="Nunito Sans" pitchFamily="34" charset="0"/>
                          <a:ea typeface="Nunito Sans" pitchFamily="34" charset="-122"/>
                          <a:cs typeface="Nunito Sans" pitchFamily="34" charset="-120"/>
                        </a:rPr>
                        <a:t>KcalScore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2C4BF"/>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algn="ctr" indent="0" marL="0">
                        <a:lnSpc>
                          <a:spcPts val="2100"/>
                        </a:lnSpc>
                        <a:buNone/>
                      </a:pPr>
                      <a:r>
                        <a:rPr lang="en-US" sz="1500" dirty="0">
                          <a:solidFill>
                            <a:srgbClr val="F3F6F0"/>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algn="ctr" indent="0" marL="0">
                        <a:lnSpc>
                          <a:spcPts val="2100"/>
                        </a:lnSpc>
                        <a:buNone/>
                      </a:pPr>
                      <a:r>
                        <a:rPr lang="en-US" sz="1500" dirty="0">
                          <a:solidFill>
                            <a:srgbClr val="F3F6F0"/>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algn="ctr" indent="0" marL="0">
                        <a:lnSpc>
                          <a:spcPts val="2100"/>
                        </a:lnSpc>
                        <a:buNone/>
                      </a:pPr>
                      <a:r>
                        <a:rPr lang="en-US" sz="1500" dirty="0">
                          <a:solidFill>
                            <a:srgbClr val="F3F6F0"/>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algn="ctr" indent="0" marL="0">
                        <a:lnSpc>
                          <a:spcPts val="2100"/>
                        </a:lnSpc>
                        <a:buNone/>
                      </a:pPr>
                      <a:r>
                        <a:rPr lang="en-US" sz="1500" dirty="0">
                          <a:solidFill>
                            <a:srgbClr val="F3F6F0"/>
                          </a:solidFill>
                          <a:latin typeface="Nunito Sans" pitchFamily="34" charset="0"/>
                          <a:ea typeface="Nunito Sans" pitchFamily="34" charset="-122"/>
                          <a:cs typeface="Nunito Sans" pitchFamily="34" charset="-120"/>
                        </a:rPr>
                        <a:t>Yes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r>
            </a:tbl>
          </a:graphicData>
        </a:graphic>
      </p:graphicFrame>
      <p:sp>
        <p:nvSpPr>
          <p:cNvPr id="5" name="Text 2"/>
          <p:cNvSpPr/>
          <p:nvPr/>
        </p:nvSpPr>
        <p:spPr>
          <a:xfrm>
            <a:off x="812800" y="476498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C56"/>
                </a:solidFill>
                <a:latin typeface="Nunito Sans" pitchFamily="34" charset="0"/>
                <a:ea typeface="Nunito Sans" pitchFamily="34" charset="-122"/>
                <a:cs typeface="Nunito Sans" pitchFamily="34" charset="-120"/>
              </a:rPr>
              <a:t>The gap: a daily log with </a:t>
            </a:r>
            <a:r>
              <a:rPr lang="en-US" sz="1600" b="1" dirty="0">
                <a:solidFill>
                  <a:srgbClr val="4A5C56"/>
                </a:solidFill>
                <a:latin typeface="Nunito Sans" pitchFamily="34" charset="0"/>
                <a:ea typeface="Nunito Sans" pitchFamily="34" charset="-122"/>
                <a:cs typeface="Nunito Sans" pitchFamily="34" charset="-120"/>
              </a:rPr>
              <a:t>one simple score</a:t>
            </a:r>
            <a:r>
              <a:rPr lang="en-US" sz="1600" dirty="0">
                <a:solidFill>
                  <a:srgbClr val="4A5C56"/>
                </a:solidFill>
                <a:latin typeface="Nunito Sans" pitchFamily="34" charset="0"/>
                <a:ea typeface="Nunito Sans" pitchFamily="34" charset="-122"/>
                <a:cs typeface="Nunito Sans" pitchFamily="34" charset="-120"/>
              </a:rPr>
              <a:t> that clearly counts processing. KcalScore uses my own scoring method.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BACKGROUND REVIEW</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The science and the data source</a:t>
            </a:r>
            <a:endParaRPr lang="en-US" sz="3600" dirty="0"/>
          </a:p>
        </p:txBody>
      </p:sp>
      <p:sp>
        <p:nvSpPr>
          <p:cNvPr id="4" name="Shape 2"/>
          <p:cNvSpPr/>
          <p:nvPr/>
        </p:nvSpPr>
        <p:spPr>
          <a:xfrm>
            <a:off x="815975" y="1974155"/>
            <a:ext cx="3384550" cy="1835001"/>
          </a:xfrm>
          <a:prstGeom prst="roundRect">
            <a:avLst>
              <a:gd name="adj" fmla="val 6748"/>
            </a:avLst>
          </a:prstGeom>
          <a:solidFill>
            <a:srgbClr val="FCFDFB"/>
          </a:solidFill>
          <a:ln w="6350">
            <a:solidFill>
              <a:srgbClr val="D6E0DA"/>
            </a:solidFill>
            <a:prstDash val="solid"/>
          </a:ln>
        </p:spPr>
      </p:sp>
      <p:sp>
        <p:nvSpPr>
          <p:cNvPr id="5" name="Text 3"/>
          <p:cNvSpPr/>
          <p:nvPr/>
        </p:nvSpPr>
        <p:spPr>
          <a:xfrm>
            <a:off x="1047750" y="220593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NOVA scale</a:t>
            </a:r>
            <a:endParaRPr lang="en-US" sz="1800" dirty="0"/>
          </a:p>
        </p:txBody>
      </p:sp>
      <p:sp>
        <p:nvSpPr>
          <p:cNvPr id="6" name="Text 4"/>
          <p:cNvSpPr/>
          <p:nvPr/>
        </p:nvSpPr>
        <p:spPr>
          <a:xfrm>
            <a:off x="1047750" y="2581821"/>
            <a:ext cx="300863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C56"/>
                </a:solidFill>
                <a:latin typeface="Nunito Sans" pitchFamily="34" charset="0"/>
                <a:ea typeface="Nunito Sans" pitchFamily="34" charset="-122"/>
                <a:cs typeface="Nunito Sans" pitchFamily="34" charset="-120"/>
              </a:rPr>
              <a:t>Groups food by how processed it is, from 1 (fresh) to 4 (ultra-processed). Created by researchers at the University of São Paulo.</a:t>
            </a:r>
            <a:endParaRPr lang="en-US" sz="1400" dirty="0"/>
          </a:p>
        </p:txBody>
      </p:sp>
      <p:sp>
        <p:nvSpPr>
          <p:cNvPr id="7" name="Shape 5"/>
          <p:cNvSpPr/>
          <p:nvPr/>
        </p:nvSpPr>
        <p:spPr>
          <a:xfrm>
            <a:off x="4410075" y="1974155"/>
            <a:ext cx="3384550" cy="1835001"/>
          </a:xfrm>
          <a:prstGeom prst="roundRect">
            <a:avLst>
              <a:gd name="adj" fmla="val 6748"/>
            </a:avLst>
          </a:prstGeom>
          <a:solidFill>
            <a:srgbClr val="FCFDFB"/>
          </a:solidFill>
          <a:ln w="6350">
            <a:solidFill>
              <a:srgbClr val="D6E0DA"/>
            </a:solidFill>
            <a:prstDash val="solid"/>
          </a:ln>
        </p:spPr>
      </p:sp>
      <p:sp>
        <p:nvSpPr>
          <p:cNvPr id="8" name="Text 6"/>
          <p:cNvSpPr/>
          <p:nvPr/>
        </p:nvSpPr>
        <p:spPr>
          <a:xfrm>
            <a:off x="4641850" y="220593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Nutri-Score</a:t>
            </a:r>
            <a:endParaRPr lang="en-US" sz="1800" dirty="0"/>
          </a:p>
        </p:txBody>
      </p:sp>
      <p:sp>
        <p:nvSpPr>
          <p:cNvPr id="9" name="Text 7"/>
          <p:cNvSpPr/>
          <p:nvPr/>
        </p:nvSpPr>
        <p:spPr>
          <a:xfrm>
            <a:off x="4641850" y="2581821"/>
            <a:ext cx="300863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C56"/>
                </a:solidFill>
                <a:latin typeface="Nunito Sans" pitchFamily="34" charset="0"/>
                <a:ea typeface="Nunito Sans" pitchFamily="34" charset="-122"/>
                <a:cs typeface="Nunito Sans" pitchFamily="34" charset="-120"/>
              </a:rPr>
              <a:t>Rates a food’s overall nutrition from A (best) to E. Started in France and used on packaging in several European countries.</a:t>
            </a:r>
            <a:endParaRPr lang="en-US" sz="1400" dirty="0"/>
          </a:p>
        </p:txBody>
      </p:sp>
      <p:sp>
        <p:nvSpPr>
          <p:cNvPr id="10" name="Shape 8"/>
          <p:cNvSpPr/>
          <p:nvPr/>
        </p:nvSpPr>
        <p:spPr>
          <a:xfrm>
            <a:off x="8001000" y="1970980"/>
            <a:ext cx="3378200" cy="1841351"/>
          </a:xfrm>
          <a:prstGeom prst="roundRect">
            <a:avLst>
              <a:gd name="adj" fmla="val 6897"/>
            </a:avLst>
          </a:prstGeom>
          <a:solidFill>
            <a:srgbClr val="16302B"/>
          </a:solidFill>
          <a:ln/>
        </p:spPr>
      </p:sp>
      <p:sp>
        <p:nvSpPr>
          <p:cNvPr id="11" name="Text 9"/>
          <p:cNvSpPr/>
          <p:nvPr/>
        </p:nvSpPr>
        <p:spPr>
          <a:xfrm>
            <a:off x="8229600" y="219958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6F0"/>
                </a:solidFill>
                <a:latin typeface="Rubik" pitchFamily="34" charset="0"/>
                <a:ea typeface="Rubik" pitchFamily="34" charset="-122"/>
                <a:cs typeface="Rubik" pitchFamily="34" charset="-120"/>
              </a:rPr>
              <a:t>APIs compared</a:t>
            </a:r>
            <a:endParaRPr lang="en-US" sz="1800" dirty="0"/>
          </a:p>
        </p:txBody>
      </p:sp>
      <p:sp>
        <p:nvSpPr>
          <p:cNvPr id="12" name="Text 10"/>
          <p:cNvSpPr/>
          <p:nvPr/>
        </p:nvSpPr>
        <p:spPr>
          <a:xfrm>
            <a:off x="8229600" y="2575471"/>
            <a:ext cx="300863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TheMealDB: recipes, no calories</a:t>
            </a:r>
            <a:endParaRPr lang="en-US" sz="1400" dirty="0"/>
          </a:p>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FSA: hygiene ratings only</a:t>
            </a:r>
            <a:endParaRPr lang="en-US" sz="1400" dirty="0"/>
          </a:p>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USDA: no processing data</a:t>
            </a:r>
            <a:endParaRPr lang="en-US" sz="1400" dirty="0"/>
          </a:p>
          <a:p>
            <a:pPr algn="l" indent="0" marL="0">
              <a:lnSpc>
                <a:spcPts val="1960"/>
              </a:lnSpc>
              <a:buNone/>
            </a:pPr>
            <a:r>
              <a:rPr lang="en-US" sz="1400" b="1" dirty="0">
                <a:solidFill>
                  <a:srgbClr val="F2A25C"/>
                </a:solidFill>
                <a:latin typeface="Nunito Sans" pitchFamily="34" charset="0"/>
                <a:ea typeface="Nunito Sans" pitchFamily="34" charset="-122"/>
                <a:cs typeface="Nunito Sans" pitchFamily="34" charset="-120"/>
              </a:rPr>
              <a:t>Open Food Facts: has all three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THE IDEA</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Calories don’t tell the whole story</a:t>
            </a:r>
            <a:endParaRPr lang="en-US" sz="3600" dirty="0"/>
          </a:p>
        </p:txBody>
      </p:sp>
      <p:sp>
        <p:nvSpPr>
          <p:cNvPr id="4" name="Shape 2"/>
          <p:cNvSpPr/>
          <p:nvPr/>
        </p:nvSpPr>
        <p:spPr>
          <a:xfrm>
            <a:off x="815975" y="2024955"/>
            <a:ext cx="5175250" cy="1494730"/>
          </a:xfrm>
          <a:prstGeom prst="roundRect">
            <a:avLst>
              <a:gd name="adj" fmla="val 8284"/>
            </a:avLst>
          </a:prstGeom>
          <a:solidFill>
            <a:srgbClr val="FCFDFB"/>
          </a:solidFill>
          <a:ln w="6350">
            <a:solidFill>
              <a:srgbClr val="D6E0DA"/>
            </a:solidFill>
            <a:prstDash val="solid"/>
          </a:ln>
        </p:spPr>
      </p:sp>
      <p:sp>
        <p:nvSpPr>
          <p:cNvPr id="5" name="Text 3"/>
          <p:cNvSpPr/>
          <p:nvPr/>
        </p:nvSpPr>
        <p:spPr>
          <a:xfrm>
            <a:off x="1073150" y="22821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Track daily calories</a:t>
            </a:r>
            <a:endParaRPr lang="en-US" sz="2200" dirty="0"/>
          </a:p>
        </p:txBody>
      </p:sp>
      <p:sp>
        <p:nvSpPr>
          <p:cNvPr id="6" name="Text 4"/>
          <p:cNvSpPr/>
          <p:nvPr/>
        </p:nvSpPr>
        <p:spPr>
          <a:xfrm>
            <a:off x="1073150" y="269359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C56"/>
                </a:solidFill>
                <a:latin typeface="Nunito Sans" pitchFamily="34" charset="0"/>
                <a:ea typeface="Nunito Sans" pitchFamily="34" charset="-122"/>
                <a:cs typeface="Nunito Sans" pitchFamily="34" charset="-120"/>
              </a:rPr>
              <a:t>Log what you eat and see your total for the day.</a:t>
            </a:r>
            <a:endParaRPr lang="en-US" sz="1600" dirty="0"/>
          </a:p>
        </p:txBody>
      </p:sp>
      <p:sp>
        <p:nvSpPr>
          <p:cNvPr id="7" name="Shape 5"/>
          <p:cNvSpPr/>
          <p:nvPr/>
        </p:nvSpPr>
        <p:spPr>
          <a:xfrm>
            <a:off x="6200775" y="2024955"/>
            <a:ext cx="5175250" cy="1494730"/>
          </a:xfrm>
          <a:prstGeom prst="roundRect">
            <a:avLst>
              <a:gd name="adj" fmla="val 8284"/>
            </a:avLst>
          </a:prstGeom>
          <a:solidFill>
            <a:srgbClr val="FCFDFB"/>
          </a:solidFill>
          <a:ln w="6350">
            <a:solidFill>
              <a:srgbClr val="D6E0DA"/>
            </a:solidFill>
            <a:prstDash val="solid"/>
          </a:ln>
        </p:spPr>
      </p:sp>
      <p:sp>
        <p:nvSpPr>
          <p:cNvPr id="8" name="Text 6"/>
          <p:cNvSpPr/>
          <p:nvPr/>
        </p:nvSpPr>
        <p:spPr>
          <a:xfrm>
            <a:off x="6457950" y="22821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Count processing</a:t>
            </a:r>
            <a:endParaRPr lang="en-US" sz="2200" dirty="0"/>
          </a:p>
        </p:txBody>
      </p:sp>
      <p:sp>
        <p:nvSpPr>
          <p:cNvPr id="9" name="Text 7"/>
          <p:cNvSpPr/>
          <p:nvPr/>
        </p:nvSpPr>
        <p:spPr>
          <a:xfrm>
            <a:off x="6457950" y="269359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C56"/>
                </a:solidFill>
                <a:latin typeface="Nunito Sans" pitchFamily="34" charset="0"/>
                <a:ea typeface="Nunito Sans" pitchFamily="34" charset="-122"/>
                <a:cs typeface="Nunito Sans" pitchFamily="34" charset="-120"/>
              </a:rPr>
              <a:t>Ultra-processed food scores lower, without users needing to learn a new scale.</a:t>
            </a:r>
            <a:endParaRPr lang="en-US" sz="1600" dirty="0"/>
          </a:p>
        </p:txBody>
      </p:sp>
      <p:sp>
        <p:nvSpPr>
          <p:cNvPr id="10" name="Shape 8"/>
          <p:cNvSpPr/>
          <p:nvPr/>
        </p:nvSpPr>
        <p:spPr>
          <a:xfrm>
            <a:off x="815975" y="3729236"/>
            <a:ext cx="5175250" cy="1494730"/>
          </a:xfrm>
          <a:prstGeom prst="roundRect">
            <a:avLst>
              <a:gd name="adj" fmla="val 8284"/>
            </a:avLst>
          </a:prstGeom>
          <a:solidFill>
            <a:srgbClr val="FCFDFB"/>
          </a:solidFill>
          <a:ln w="6350">
            <a:solidFill>
              <a:srgbClr val="D6E0DA"/>
            </a:solidFill>
            <a:prstDash val="solid"/>
          </a:ln>
        </p:spPr>
      </p:sp>
      <p:sp>
        <p:nvSpPr>
          <p:cNvPr id="11" name="Text 9"/>
          <p:cNvSpPr/>
          <p:nvPr/>
        </p:nvSpPr>
        <p:spPr>
          <a:xfrm>
            <a:off x="1073150" y="398641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One Food Score</a:t>
            </a:r>
            <a:endParaRPr lang="en-US" sz="2200" dirty="0"/>
          </a:p>
        </p:txBody>
      </p:sp>
      <p:sp>
        <p:nvSpPr>
          <p:cNvPr id="12" name="Text 10"/>
          <p:cNvSpPr/>
          <p:nvPr/>
        </p:nvSpPr>
        <p:spPr>
          <a:xfrm>
            <a:off x="1073150" y="439787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C56"/>
                </a:solidFill>
                <a:latin typeface="Nunito Sans" pitchFamily="34" charset="0"/>
                <a:ea typeface="Nunito Sans" pitchFamily="34" charset="-122"/>
                <a:cs typeface="Nunito Sans" pitchFamily="34" charset="-120"/>
              </a:rPr>
              <a:t>A single score out of 100 that combines nutrition and processing.</a:t>
            </a:r>
            <a:endParaRPr lang="en-US" sz="1600" dirty="0"/>
          </a:p>
        </p:txBody>
      </p:sp>
      <p:sp>
        <p:nvSpPr>
          <p:cNvPr id="13" name="Shape 11"/>
          <p:cNvSpPr/>
          <p:nvPr/>
        </p:nvSpPr>
        <p:spPr>
          <a:xfrm>
            <a:off x="6200775" y="3729236"/>
            <a:ext cx="5175250" cy="1494730"/>
          </a:xfrm>
          <a:prstGeom prst="roundRect">
            <a:avLst>
              <a:gd name="adj" fmla="val 8284"/>
            </a:avLst>
          </a:prstGeom>
          <a:solidFill>
            <a:srgbClr val="FCFDFB"/>
          </a:solidFill>
          <a:ln w="6350">
            <a:solidFill>
              <a:srgbClr val="D6E0DA"/>
            </a:solidFill>
            <a:prstDash val="solid"/>
          </a:ln>
        </p:spPr>
      </p:sp>
      <p:sp>
        <p:nvSpPr>
          <p:cNvPr id="14" name="Text 12"/>
          <p:cNvSpPr/>
          <p:nvPr/>
        </p:nvSpPr>
        <p:spPr>
          <a:xfrm>
            <a:off x="6457950" y="398641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Learn to use APIs</a:t>
            </a:r>
            <a:endParaRPr lang="en-US" sz="2200" dirty="0"/>
          </a:p>
        </p:txBody>
      </p:sp>
      <p:sp>
        <p:nvSpPr>
          <p:cNvPr id="15" name="Text 13"/>
          <p:cNvSpPr/>
          <p:nvPr/>
        </p:nvSpPr>
        <p:spPr>
          <a:xfrm>
            <a:off x="6457950" y="439787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C56"/>
                </a:solidFill>
                <a:latin typeface="Nunito Sans" pitchFamily="34" charset="0"/>
                <a:ea typeface="Nunito Sans" pitchFamily="34" charset="-122"/>
                <a:cs typeface="Nunito Sans" pitchFamily="34" charset="-120"/>
              </a:rPr>
              <a:t>Pull real food data from the internet instead of typing it in myself.</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AIM AND OBJECTIVES</a:t>
            </a:r>
            <a:endParaRPr lang="en-US" sz="1400" dirty="0"/>
          </a:p>
        </p:txBody>
      </p:sp>
      <p:sp>
        <p:nvSpPr>
          <p:cNvPr id="3" name="Text 1"/>
          <p:cNvSpPr/>
          <p:nvPr>
            <p:ph type="title"/>
          </p:nvPr>
        </p:nvSpPr>
        <p:spPr>
          <a:xfrm>
            <a:off x="812800" y="1163290"/>
            <a:ext cx="10464800"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6302B"/>
                </a:solidFill>
                <a:latin typeface="Rubik" pitchFamily="34" charset="0"/>
                <a:ea typeface="Rubik" pitchFamily="34" charset="-122"/>
                <a:cs typeface="Rubik" pitchFamily="34" charset="-120"/>
              </a:rPr>
              <a:t>Aim: help people understand the overall quality of their food, not just its calories</a:t>
            </a:r>
            <a:endParaRPr lang="en-US" sz="2800" dirty="0"/>
          </a:p>
        </p:txBody>
      </p:sp>
      <p:sp>
        <p:nvSpPr>
          <p:cNvPr id="4" name="Shape 2"/>
          <p:cNvSpPr/>
          <p:nvPr/>
        </p:nvSpPr>
        <p:spPr>
          <a:xfrm>
            <a:off x="815975" y="2238325"/>
            <a:ext cx="10560050" cy="544810"/>
          </a:xfrm>
          <a:prstGeom prst="roundRect">
            <a:avLst>
              <a:gd name="adj" fmla="val 18066"/>
            </a:avLst>
          </a:prstGeom>
          <a:solidFill>
            <a:srgbClr val="FCFDFB"/>
          </a:solidFill>
          <a:ln w="6350">
            <a:solidFill>
              <a:srgbClr val="D6E0DA"/>
            </a:solidFill>
            <a:prstDash val="solid"/>
          </a:ln>
        </p:spPr>
      </p:sp>
      <p:sp>
        <p:nvSpPr>
          <p:cNvPr id="5" name="Text 3"/>
          <p:cNvSpPr/>
          <p:nvPr/>
        </p:nvSpPr>
        <p:spPr>
          <a:xfrm>
            <a:off x="1022350" y="2368500"/>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481F"/>
                </a:solidFill>
                <a:latin typeface="Rubik" pitchFamily="34" charset="0"/>
                <a:ea typeface="Rubik" pitchFamily="34" charset="-122"/>
                <a:cs typeface="Rubik" pitchFamily="34" charset="-120"/>
              </a:rPr>
              <a:t>O1</a:t>
            </a:r>
            <a:endParaRPr lang="en-US" sz="1600" dirty="0"/>
          </a:p>
        </p:txBody>
      </p:sp>
      <p:sp>
        <p:nvSpPr>
          <p:cNvPr id="6" name="Text 4"/>
          <p:cNvSpPr/>
          <p:nvPr/>
        </p:nvSpPr>
        <p:spPr>
          <a:xfrm>
            <a:off x="1708150" y="2382143"/>
            <a:ext cx="710571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302B"/>
                </a:solidFill>
                <a:latin typeface="Nunito Sans" pitchFamily="34" charset="0"/>
                <a:ea typeface="Nunito Sans" pitchFamily="34" charset="-122"/>
                <a:cs typeface="Nunito Sans" pitchFamily="34" charset="-120"/>
              </a:rPr>
              <a:t>Get food data from the Open Food Facts API by barcode and by name</a:t>
            </a:r>
            <a:endParaRPr lang="en-US" sz="1500" dirty="0"/>
          </a:p>
        </p:txBody>
      </p:sp>
      <p:sp>
        <p:nvSpPr>
          <p:cNvPr id="7" name="Shape 5"/>
          <p:cNvSpPr/>
          <p:nvPr/>
        </p:nvSpPr>
        <p:spPr>
          <a:xfrm>
            <a:off x="815975" y="2891086"/>
            <a:ext cx="10560050" cy="544810"/>
          </a:xfrm>
          <a:prstGeom prst="roundRect">
            <a:avLst>
              <a:gd name="adj" fmla="val 18066"/>
            </a:avLst>
          </a:prstGeom>
          <a:solidFill>
            <a:srgbClr val="FCFDFB"/>
          </a:solidFill>
          <a:ln w="6350">
            <a:solidFill>
              <a:srgbClr val="D6E0DA"/>
            </a:solidFill>
            <a:prstDash val="solid"/>
          </a:ln>
        </p:spPr>
      </p:sp>
      <p:sp>
        <p:nvSpPr>
          <p:cNvPr id="8" name="Text 6"/>
          <p:cNvSpPr/>
          <p:nvPr/>
        </p:nvSpPr>
        <p:spPr>
          <a:xfrm>
            <a:off x="1022350" y="302126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481F"/>
                </a:solidFill>
                <a:latin typeface="Rubik" pitchFamily="34" charset="0"/>
                <a:ea typeface="Rubik" pitchFamily="34" charset="-122"/>
                <a:cs typeface="Rubik" pitchFamily="34" charset="-120"/>
              </a:rPr>
              <a:t>O2</a:t>
            </a:r>
            <a:endParaRPr lang="en-US" sz="1600" dirty="0"/>
          </a:p>
        </p:txBody>
      </p:sp>
      <p:sp>
        <p:nvSpPr>
          <p:cNvPr id="9" name="Text 7"/>
          <p:cNvSpPr/>
          <p:nvPr/>
        </p:nvSpPr>
        <p:spPr>
          <a:xfrm>
            <a:off x="1708150" y="3034903"/>
            <a:ext cx="814500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302B"/>
                </a:solidFill>
                <a:latin typeface="Nunito Sans" pitchFamily="34" charset="0"/>
                <a:ea typeface="Nunito Sans" pitchFamily="34" charset="-122"/>
                <a:cs typeface="Nunito Sans" pitchFamily="34" charset="-120"/>
              </a:rPr>
              <a:t>Show calories and a Food Score out of 100 for each food, handling missing data</a:t>
            </a:r>
            <a:endParaRPr lang="en-US" sz="1500" dirty="0"/>
          </a:p>
        </p:txBody>
      </p:sp>
      <p:sp>
        <p:nvSpPr>
          <p:cNvPr id="10" name="Shape 8"/>
          <p:cNvSpPr/>
          <p:nvPr/>
        </p:nvSpPr>
        <p:spPr>
          <a:xfrm>
            <a:off x="815975" y="3543846"/>
            <a:ext cx="10560050" cy="544810"/>
          </a:xfrm>
          <a:prstGeom prst="roundRect">
            <a:avLst>
              <a:gd name="adj" fmla="val 18066"/>
            </a:avLst>
          </a:prstGeom>
          <a:solidFill>
            <a:srgbClr val="FCFDFB"/>
          </a:solidFill>
          <a:ln w="6350">
            <a:solidFill>
              <a:srgbClr val="D6E0DA"/>
            </a:solidFill>
            <a:prstDash val="solid"/>
          </a:ln>
        </p:spPr>
      </p:sp>
      <p:sp>
        <p:nvSpPr>
          <p:cNvPr id="11" name="Text 9"/>
          <p:cNvSpPr/>
          <p:nvPr/>
        </p:nvSpPr>
        <p:spPr>
          <a:xfrm>
            <a:off x="1022350" y="367402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481F"/>
                </a:solidFill>
                <a:latin typeface="Rubik" pitchFamily="34" charset="0"/>
                <a:ea typeface="Rubik" pitchFamily="34" charset="-122"/>
                <a:cs typeface="Rubik" pitchFamily="34" charset="-120"/>
              </a:rPr>
              <a:t>O3</a:t>
            </a:r>
            <a:endParaRPr lang="en-US" sz="1600" dirty="0"/>
          </a:p>
        </p:txBody>
      </p:sp>
      <p:sp>
        <p:nvSpPr>
          <p:cNvPr id="12" name="Text 10"/>
          <p:cNvSpPr/>
          <p:nvPr/>
        </p:nvSpPr>
        <p:spPr>
          <a:xfrm>
            <a:off x="1708150" y="3687663"/>
            <a:ext cx="70830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302B"/>
                </a:solidFill>
                <a:latin typeface="Nunito Sans" pitchFamily="34" charset="0"/>
                <a:ea typeface="Nunito Sans" pitchFamily="34" charset="-122"/>
                <a:cs typeface="Nunito Sans" pitchFamily="34" charset="-120"/>
              </a:rPr>
              <a:t>Let users log foods with a portion size and see their daily calorie total</a:t>
            </a:r>
            <a:endParaRPr lang="en-US" sz="1500" dirty="0"/>
          </a:p>
        </p:txBody>
      </p:sp>
      <p:sp>
        <p:nvSpPr>
          <p:cNvPr id="13" name="Shape 11"/>
          <p:cNvSpPr/>
          <p:nvPr/>
        </p:nvSpPr>
        <p:spPr>
          <a:xfrm>
            <a:off x="815975" y="4196606"/>
            <a:ext cx="10560050" cy="544810"/>
          </a:xfrm>
          <a:prstGeom prst="roundRect">
            <a:avLst>
              <a:gd name="adj" fmla="val 18066"/>
            </a:avLst>
          </a:prstGeom>
          <a:solidFill>
            <a:srgbClr val="FCFDFB"/>
          </a:solidFill>
          <a:ln w="6350">
            <a:solidFill>
              <a:srgbClr val="D6E0DA"/>
            </a:solidFill>
            <a:prstDash val="solid"/>
          </a:ln>
        </p:spPr>
      </p:sp>
      <p:sp>
        <p:nvSpPr>
          <p:cNvPr id="14" name="Text 12"/>
          <p:cNvSpPr/>
          <p:nvPr/>
        </p:nvSpPr>
        <p:spPr>
          <a:xfrm>
            <a:off x="1022350" y="432678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481F"/>
                </a:solidFill>
                <a:latin typeface="Rubik" pitchFamily="34" charset="0"/>
                <a:ea typeface="Rubik" pitchFamily="34" charset="-122"/>
                <a:cs typeface="Rubik" pitchFamily="34" charset="-120"/>
              </a:rPr>
              <a:t>O4</a:t>
            </a:r>
            <a:endParaRPr lang="en-US" sz="1600" dirty="0"/>
          </a:p>
        </p:txBody>
      </p:sp>
      <p:sp>
        <p:nvSpPr>
          <p:cNvPr id="15" name="Text 13"/>
          <p:cNvSpPr/>
          <p:nvPr/>
        </p:nvSpPr>
        <p:spPr>
          <a:xfrm>
            <a:off x="1708150" y="4340423"/>
            <a:ext cx="435483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302B"/>
                </a:solidFill>
                <a:latin typeface="Nunito Sans" pitchFamily="34" charset="0"/>
                <a:ea typeface="Nunito Sans" pitchFamily="34" charset="-122"/>
                <a:cs typeface="Nunito Sans" pitchFamily="34" charset="-120"/>
              </a:rPr>
              <a:t>Give the whole day an average Food Score</a:t>
            </a:r>
            <a:endParaRPr lang="en-US" sz="1500" dirty="0"/>
          </a:p>
        </p:txBody>
      </p:sp>
      <p:sp>
        <p:nvSpPr>
          <p:cNvPr id="16" name="Shape 14"/>
          <p:cNvSpPr/>
          <p:nvPr/>
        </p:nvSpPr>
        <p:spPr>
          <a:xfrm>
            <a:off x="815975" y="4849366"/>
            <a:ext cx="10560050" cy="544810"/>
          </a:xfrm>
          <a:prstGeom prst="roundRect">
            <a:avLst>
              <a:gd name="adj" fmla="val 18066"/>
            </a:avLst>
          </a:prstGeom>
          <a:solidFill>
            <a:srgbClr val="FCFDFB"/>
          </a:solidFill>
          <a:ln w="6350">
            <a:solidFill>
              <a:srgbClr val="D6E0DA"/>
            </a:solidFill>
            <a:prstDash val="solid"/>
          </a:ln>
        </p:spPr>
      </p:sp>
      <p:sp>
        <p:nvSpPr>
          <p:cNvPr id="17" name="Text 15"/>
          <p:cNvSpPr/>
          <p:nvPr/>
        </p:nvSpPr>
        <p:spPr>
          <a:xfrm>
            <a:off x="1022350" y="497954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481F"/>
                </a:solidFill>
                <a:latin typeface="Rubik" pitchFamily="34" charset="0"/>
                <a:ea typeface="Rubik" pitchFamily="34" charset="-122"/>
                <a:cs typeface="Rubik" pitchFamily="34" charset="-120"/>
              </a:rPr>
              <a:t>O5</a:t>
            </a:r>
            <a:endParaRPr lang="en-US" sz="1600" dirty="0"/>
          </a:p>
        </p:txBody>
      </p:sp>
      <p:sp>
        <p:nvSpPr>
          <p:cNvPr id="18" name="Text 16"/>
          <p:cNvSpPr/>
          <p:nvPr/>
        </p:nvSpPr>
        <p:spPr>
          <a:xfrm>
            <a:off x="1708150" y="4993184"/>
            <a:ext cx="710100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302B"/>
                </a:solidFill>
                <a:latin typeface="Nunito Sans" pitchFamily="34" charset="0"/>
                <a:ea typeface="Nunito Sans" pitchFamily="34" charset="-122"/>
                <a:cs typeface="Nunito Sans" pitchFamily="34" charset="-120"/>
              </a:rPr>
              <a:t>Test with at least 5 people and deliver a working website by week 11</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25C"/>
                </a:solidFill>
                <a:latin typeface="Nunito Sans" pitchFamily="34" charset="0"/>
                <a:ea typeface="Nunito Sans" pitchFamily="34" charset="-122"/>
                <a:cs typeface="Nunito Sans" pitchFamily="34" charset="-120"/>
              </a:rPr>
              <a:t>THE MVP</a:t>
            </a:r>
            <a:endParaRPr lang="en-US" sz="1400" dirty="0"/>
          </a:p>
        </p:txBody>
      </p:sp>
      <p:sp>
        <p:nvSpPr>
          <p:cNvPr id="3" name="Text 1"/>
          <p:cNvSpPr/>
          <p:nvPr>
            <p:ph type="title"/>
          </p:nvPr>
        </p:nvSpPr>
        <p:spPr>
          <a:xfrm>
            <a:off x="812800" y="1163290"/>
            <a:ext cx="1046480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6F0"/>
                </a:solidFill>
                <a:latin typeface="Rubik" pitchFamily="34" charset="0"/>
                <a:ea typeface="Rubik" pitchFamily="34" charset="-122"/>
                <a:cs typeface="Rubik" pitchFamily="34" charset="-120"/>
              </a:rPr>
              <a:t>A website: scan a barcode, see the scores, log it, see your day</a:t>
            </a:r>
            <a:endParaRPr lang="en-US" sz="3200" dirty="0"/>
          </a:p>
        </p:txBody>
      </p:sp>
      <p:sp>
        <p:nvSpPr>
          <p:cNvPr id="4" name="Shape 2"/>
          <p:cNvSpPr/>
          <p:nvPr/>
        </p:nvSpPr>
        <p:spPr>
          <a:xfrm>
            <a:off x="812800" y="2402731"/>
            <a:ext cx="6101060" cy="2338040"/>
          </a:xfrm>
          <a:prstGeom prst="roundRect">
            <a:avLst>
              <a:gd name="adj" fmla="val 5432"/>
            </a:avLst>
          </a:prstGeom>
          <a:solidFill>
            <a:srgbClr val="244A42"/>
          </a:solidFill>
          <a:ln/>
        </p:spPr>
      </p:sp>
      <p:sp>
        <p:nvSpPr>
          <p:cNvPr id="5" name="Text 3"/>
          <p:cNvSpPr/>
          <p:nvPr/>
        </p:nvSpPr>
        <p:spPr>
          <a:xfrm>
            <a:off x="1066800" y="2656731"/>
            <a:ext cx="576085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25C"/>
                </a:solidFill>
                <a:latin typeface="Rubik" pitchFamily="34" charset="0"/>
                <a:ea typeface="Rubik" pitchFamily="34" charset="-122"/>
                <a:cs typeface="Rubik" pitchFamily="34" charset="-120"/>
              </a:rPr>
              <a:t>In the MVP</a:t>
            </a:r>
            <a:endParaRPr lang="en-US" sz="1800" dirty="0"/>
          </a:p>
        </p:txBody>
      </p:sp>
      <p:sp>
        <p:nvSpPr>
          <p:cNvPr id="6" name="Text 4"/>
          <p:cNvSpPr/>
          <p:nvPr/>
        </p:nvSpPr>
        <p:spPr>
          <a:xfrm>
            <a:off x="1137920" y="3058021"/>
            <a:ext cx="5682112"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3F6F0"/>
                </a:solidFill>
                <a:latin typeface="Nunito Sans" pitchFamily="34" charset="0"/>
                <a:ea typeface="Nunito Sans" pitchFamily="34" charset="-122"/>
                <a:cs typeface="Nunito Sans" pitchFamily="34" charset="-120"/>
              </a:rPr>
              <a:t>Look up a food by barcode or name</a:t>
            </a:r>
            <a:endParaRPr lang="en-US" sz="1500" dirty="0"/>
          </a:p>
          <a:p>
            <a:pPr algn="l" marL="182880" indent="-182880">
              <a:lnSpc>
                <a:spcPts val="2250"/>
              </a:lnSpc>
              <a:buSzPct val="100000"/>
              <a:buChar char="•"/>
            </a:pPr>
            <a:r>
              <a:rPr lang="en-US" sz="1500" dirty="0">
                <a:solidFill>
                  <a:srgbClr val="F3F6F0"/>
                </a:solidFill>
                <a:latin typeface="Nunito Sans" pitchFamily="34" charset="0"/>
                <a:ea typeface="Nunito Sans" pitchFamily="34" charset="-122"/>
                <a:cs typeface="Nunito Sans" pitchFamily="34" charset="-120"/>
              </a:rPr>
              <a:t>Calories and a Food Score out of 100</a:t>
            </a:r>
            <a:endParaRPr lang="en-US" sz="1500" dirty="0"/>
          </a:p>
          <a:p>
            <a:pPr algn="l" marL="182880" indent="-182880">
              <a:lnSpc>
                <a:spcPts val="2250"/>
              </a:lnSpc>
              <a:buSzPct val="100000"/>
              <a:buChar char="•"/>
            </a:pPr>
            <a:r>
              <a:rPr lang="en-US" sz="1500" dirty="0">
                <a:solidFill>
                  <a:srgbClr val="F3F6F0"/>
                </a:solidFill>
                <a:latin typeface="Nunito Sans" pitchFamily="34" charset="0"/>
                <a:ea typeface="Nunito Sans" pitchFamily="34" charset="-122"/>
                <a:cs typeface="Nunito Sans" pitchFamily="34" charset="-120"/>
              </a:rPr>
              <a:t>Add foods to today’s log with a portion size</a:t>
            </a:r>
            <a:endParaRPr lang="en-US" sz="1500" dirty="0"/>
          </a:p>
          <a:p>
            <a:pPr algn="l" marL="182880" indent="-182880">
              <a:lnSpc>
                <a:spcPts val="2250"/>
              </a:lnSpc>
              <a:buSzPct val="100000"/>
              <a:buChar char="•"/>
            </a:pPr>
            <a:r>
              <a:rPr lang="en-US" sz="1500" dirty="0">
                <a:solidFill>
                  <a:srgbClr val="F3F6F0"/>
                </a:solidFill>
                <a:latin typeface="Nunito Sans" pitchFamily="34" charset="0"/>
                <a:ea typeface="Nunito Sans" pitchFamily="34" charset="-122"/>
                <a:cs typeface="Nunito Sans" pitchFamily="34" charset="-120"/>
              </a:rPr>
              <a:t>Daily calorie total and average Food Score</a:t>
            </a:r>
            <a:endParaRPr lang="en-US" sz="1500" dirty="0"/>
          </a:p>
          <a:p>
            <a:pPr algn="l" marL="182880" indent="-182880">
              <a:lnSpc>
                <a:spcPts val="2250"/>
              </a:lnSpc>
              <a:buSzPct val="100000"/>
              <a:buChar char="•"/>
            </a:pPr>
            <a:r>
              <a:rPr lang="en-US" sz="1500" dirty="0">
                <a:solidFill>
                  <a:srgbClr val="F3F6F0"/>
                </a:solidFill>
                <a:latin typeface="Nunito Sans" pitchFamily="34" charset="0"/>
                <a:ea typeface="Nunito Sans" pitchFamily="34" charset="-122"/>
                <a:cs typeface="Nunito Sans" pitchFamily="34" charset="-120"/>
              </a:rPr>
              <a:t>Works on phone and laptop browsers</a:t>
            </a:r>
            <a:endParaRPr lang="en-US" sz="1500" dirty="0"/>
          </a:p>
        </p:txBody>
      </p:sp>
      <p:sp>
        <p:nvSpPr>
          <p:cNvPr id="7" name="Shape 5"/>
          <p:cNvSpPr/>
          <p:nvPr/>
        </p:nvSpPr>
        <p:spPr>
          <a:xfrm>
            <a:off x="7123410" y="2409081"/>
            <a:ext cx="4249440" cy="2325340"/>
          </a:xfrm>
          <a:prstGeom prst="roundRect">
            <a:avLst>
              <a:gd name="adj" fmla="val 5188"/>
            </a:avLst>
          </a:prstGeom>
          <a:noFill/>
          <a:ln w="12700">
            <a:solidFill>
              <a:srgbClr val="4F7A70"/>
            </a:solidFill>
            <a:prstDash val="dash"/>
          </a:ln>
        </p:spPr>
      </p:sp>
      <p:sp>
        <p:nvSpPr>
          <p:cNvPr id="8" name="Text 6"/>
          <p:cNvSpPr/>
          <p:nvPr/>
        </p:nvSpPr>
        <p:spPr>
          <a:xfrm>
            <a:off x="7383760" y="2669431"/>
            <a:ext cx="384060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FD3CB"/>
                </a:solidFill>
                <a:latin typeface="Rubik" pitchFamily="34" charset="0"/>
                <a:ea typeface="Rubik" pitchFamily="34" charset="-122"/>
                <a:cs typeface="Rubik" pitchFamily="34" charset="-120"/>
              </a:rPr>
              <a:t>Later</a:t>
            </a:r>
            <a:endParaRPr lang="en-US" sz="1800" dirty="0"/>
          </a:p>
        </p:txBody>
      </p:sp>
      <p:sp>
        <p:nvSpPr>
          <p:cNvPr id="9" name="Text 7"/>
          <p:cNvSpPr/>
          <p:nvPr/>
        </p:nvSpPr>
        <p:spPr>
          <a:xfrm>
            <a:off x="7454880" y="3070721"/>
            <a:ext cx="3761862"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BFD3CB"/>
                </a:solidFill>
                <a:latin typeface="Nunito Sans" pitchFamily="34" charset="0"/>
                <a:ea typeface="Nunito Sans" pitchFamily="34" charset="-122"/>
                <a:cs typeface="Nunito Sans" pitchFamily="34" charset="-120"/>
              </a:rPr>
              <a:t>Phone app</a:t>
            </a:r>
            <a:endParaRPr lang="en-US" sz="1500" dirty="0"/>
          </a:p>
          <a:p>
            <a:pPr algn="l" marL="182880" indent="-182880">
              <a:lnSpc>
                <a:spcPts val="2250"/>
              </a:lnSpc>
              <a:buSzPct val="100000"/>
              <a:buChar char="•"/>
            </a:pPr>
            <a:r>
              <a:rPr lang="en-US" sz="1500" dirty="0">
                <a:solidFill>
                  <a:srgbClr val="BFD3CB"/>
                </a:solidFill>
                <a:latin typeface="Nunito Sans" pitchFamily="34" charset="0"/>
                <a:ea typeface="Nunito Sans" pitchFamily="34" charset="-122"/>
                <a:cs typeface="Nunito Sans" pitchFamily="34" charset="-120"/>
              </a:rPr>
              <a:t>Camera barcode scanning</a:t>
            </a:r>
            <a:endParaRPr lang="en-US" sz="1500" dirty="0"/>
          </a:p>
          <a:p>
            <a:pPr algn="l" marL="182880" indent="-182880">
              <a:lnSpc>
                <a:spcPts val="2250"/>
              </a:lnSpc>
              <a:buSzPct val="100000"/>
              <a:buChar char="•"/>
            </a:pPr>
            <a:r>
              <a:rPr lang="en-US" sz="1500" dirty="0">
                <a:solidFill>
                  <a:srgbClr val="BFD3CB"/>
                </a:solidFill>
                <a:latin typeface="Nunito Sans" pitchFamily="34" charset="0"/>
                <a:ea typeface="Nunito Sans" pitchFamily="34" charset="-122"/>
                <a:cs typeface="Nunito Sans" pitchFamily="34" charset="-120"/>
              </a:rPr>
              <a:t>User accounts</a:t>
            </a:r>
            <a:endParaRPr lang="en-US" sz="1500" dirty="0"/>
          </a:p>
          <a:p>
            <a:pPr algn="l" marL="182880" indent="-182880">
              <a:lnSpc>
                <a:spcPts val="2250"/>
              </a:lnSpc>
              <a:buSzPct val="100000"/>
              <a:buChar char="•"/>
            </a:pPr>
            <a:r>
              <a:rPr lang="en-US" sz="1500" dirty="0">
                <a:solidFill>
                  <a:srgbClr val="BFD3CB"/>
                </a:solidFill>
                <a:latin typeface="Nunito Sans" pitchFamily="34" charset="0"/>
                <a:ea typeface="Nunito Sans" pitchFamily="34" charset="-122"/>
                <a:cs typeface="Nunito Sans" pitchFamily="34" charset="-120"/>
              </a:rPr>
              <a:t>History over weeks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HOW IT WORKS</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The data comes from an API</a:t>
            </a:r>
            <a:endParaRPr lang="en-US" sz="3600" dirty="0"/>
          </a:p>
        </p:txBody>
      </p:sp>
      <p:sp>
        <p:nvSpPr>
          <p:cNvPr id="4" name="Shape 2"/>
          <p:cNvSpPr/>
          <p:nvPr/>
        </p:nvSpPr>
        <p:spPr>
          <a:xfrm>
            <a:off x="815975" y="1974155"/>
            <a:ext cx="2216150" cy="879425"/>
          </a:xfrm>
          <a:prstGeom prst="roundRect">
            <a:avLst>
              <a:gd name="adj" fmla="val 14080"/>
            </a:avLst>
          </a:prstGeom>
          <a:solidFill>
            <a:srgbClr val="FCFDFB"/>
          </a:solidFill>
          <a:ln w="6350">
            <a:solidFill>
              <a:srgbClr val="D6E0DA"/>
            </a:solidFill>
            <a:prstDash val="solid"/>
          </a:ln>
        </p:spPr>
      </p:sp>
      <p:sp>
        <p:nvSpPr>
          <p:cNvPr id="5" name="Text 3"/>
          <p:cNvSpPr/>
          <p:nvPr/>
        </p:nvSpPr>
        <p:spPr>
          <a:xfrm>
            <a:off x="996950" y="2155130"/>
            <a:ext cx="190982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302B"/>
                </a:solidFill>
                <a:latin typeface="Rubik" pitchFamily="34" charset="0"/>
                <a:ea typeface="Rubik" pitchFamily="34" charset="-122"/>
                <a:cs typeface="Rubik" pitchFamily="34" charset="-120"/>
              </a:rPr>
              <a:t>You search</a:t>
            </a:r>
            <a:endParaRPr lang="en-US" sz="1600" dirty="0"/>
          </a:p>
        </p:txBody>
      </p:sp>
      <p:sp>
        <p:nvSpPr>
          <p:cNvPr id="6" name="Text 4"/>
          <p:cNvSpPr/>
          <p:nvPr/>
        </p:nvSpPr>
        <p:spPr>
          <a:xfrm>
            <a:off x="996950" y="2449761"/>
            <a:ext cx="190982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C56"/>
                </a:solidFill>
                <a:latin typeface="Nunito Sans" pitchFamily="34" charset="0"/>
                <a:ea typeface="Nunito Sans" pitchFamily="34" charset="-122"/>
                <a:cs typeface="Nunito Sans" pitchFamily="34" charset="-120"/>
              </a:rPr>
              <a:t>“pizza”</a:t>
            </a:r>
            <a:endParaRPr lang="en-US" sz="1300" dirty="0"/>
          </a:p>
        </p:txBody>
      </p:sp>
      <p:pic>
        <p:nvPicPr>
          <p:cNvPr id="7" name="Image 0" descr="connector">    </p:cNvPr>
          <p:cNvPicPr>
            <a:picLocks noChangeAspect="1"/>
          </p:cNvPicPr>
          <p:nvPr/>
        </p:nvPicPr>
        <p:blipFill>
          <a:blip r:embed="rId1"/>
          <a:srcRect l="0" r="0" t="0" b="0"/>
          <a:stretch/>
        </p:blipFill>
        <p:spPr>
          <a:xfrm>
            <a:off x="3136900" y="2350343"/>
            <a:ext cx="355600" cy="127000"/>
          </a:xfrm>
          <a:prstGeom prst="rect">
            <a:avLst/>
          </a:prstGeom>
        </p:spPr>
      </p:pic>
      <p:sp>
        <p:nvSpPr>
          <p:cNvPr id="8" name="Shape 5"/>
          <p:cNvSpPr/>
          <p:nvPr/>
        </p:nvSpPr>
        <p:spPr>
          <a:xfrm>
            <a:off x="3597275" y="1974155"/>
            <a:ext cx="2216150" cy="879425"/>
          </a:xfrm>
          <a:prstGeom prst="roundRect">
            <a:avLst>
              <a:gd name="adj" fmla="val 14080"/>
            </a:avLst>
          </a:prstGeom>
          <a:solidFill>
            <a:srgbClr val="FCFDFB"/>
          </a:solidFill>
          <a:ln w="6350">
            <a:solidFill>
              <a:srgbClr val="D6E0DA"/>
            </a:solidFill>
            <a:prstDash val="solid"/>
          </a:ln>
        </p:spPr>
      </p:sp>
      <p:sp>
        <p:nvSpPr>
          <p:cNvPr id="9" name="Text 6"/>
          <p:cNvSpPr/>
          <p:nvPr/>
        </p:nvSpPr>
        <p:spPr>
          <a:xfrm>
            <a:off x="3778250" y="2155130"/>
            <a:ext cx="190982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302B"/>
                </a:solidFill>
                <a:latin typeface="Rubik" pitchFamily="34" charset="0"/>
                <a:ea typeface="Rubik" pitchFamily="34" charset="-122"/>
                <a:cs typeface="Rubik" pitchFamily="34" charset="-120"/>
              </a:rPr>
              <a:t>App asks</a:t>
            </a:r>
            <a:endParaRPr lang="en-US" sz="1600" dirty="0"/>
          </a:p>
        </p:txBody>
      </p:sp>
      <p:sp>
        <p:nvSpPr>
          <p:cNvPr id="10" name="Text 7"/>
          <p:cNvSpPr/>
          <p:nvPr/>
        </p:nvSpPr>
        <p:spPr>
          <a:xfrm>
            <a:off x="3778250" y="2449761"/>
            <a:ext cx="190982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C56"/>
                </a:solidFill>
                <a:latin typeface="Nunito Sans" pitchFamily="34" charset="0"/>
                <a:ea typeface="Nunito Sans" pitchFamily="34" charset="-122"/>
                <a:cs typeface="Nunito Sans" pitchFamily="34" charset="-120"/>
              </a:rPr>
              <a:t>sends a request</a:t>
            </a:r>
            <a:endParaRPr lang="en-US" sz="1300" dirty="0"/>
          </a:p>
        </p:txBody>
      </p:sp>
      <p:pic>
        <p:nvPicPr>
          <p:cNvPr id="11" name="Image 1" descr="connector">    </p:cNvPr>
          <p:cNvPicPr>
            <a:picLocks noChangeAspect="1"/>
          </p:cNvPicPr>
          <p:nvPr/>
        </p:nvPicPr>
        <p:blipFill>
          <a:blip r:embed="rId2"/>
          <a:srcRect l="0" r="0" t="0" b="0"/>
          <a:stretch/>
        </p:blipFill>
        <p:spPr>
          <a:xfrm>
            <a:off x="5918200" y="2350343"/>
            <a:ext cx="355600" cy="127000"/>
          </a:xfrm>
          <a:prstGeom prst="rect">
            <a:avLst/>
          </a:prstGeom>
        </p:spPr>
      </p:pic>
      <p:sp>
        <p:nvSpPr>
          <p:cNvPr id="12" name="Shape 8"/>
          <p:cNvSpPr/>
          <p:nvPr/>
        </p:nvSpPr>
        <p:spPr>
          <a:xfrm>
            <a:off x="6378575" y="1974155"/>
            <a:ext cx="2216150" cy="879425"/>
          </a:xfrm>
          <a:prstGeom prst="roundRect">
            <a:avLst>
              <a:gd name="adj" fmla="val 14080"/>
            </a:avLst>
          </a:prstGeom>
          <a:solidFill>
            <a:srgbClr val="16302B"/>
          </a:solidFill>
          <a:ln w="6350">
            <a:solidFill>
              <a:srgbClr val="16302B"/>
            </a:solidFill>
            <a:prstDash val="solid"/>
          </a:ln>
        </p:spPr>
      </p:sp>
      <p:sp>
        <p:nvSpPr>
          <p:cNvPr id="13" name="Text 9"/>
          <p:cNvSpPr/>
          <p:nvPr/>
        </p:nvSpPr>
        <p:spPr>
          <a:xfrm>
            <a:off x="6559550" y="2155130"/>
            <a:ext cx="190982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0"/>
                </a:solidFill>
                <a:latin typeface="Rubik" pitchFamily="34" charset="0"/>
                <a:ea typeface="Rubik" pitchFamily="34" charset="-122"/>
                <a:cs typeface="Rubik" pitchFamily="34" charset="-120"/>
              </a:rPr>
              <a:t>Open Food Facts</a:t>
            </a:r>
            <a:endParaRPr lang="en-US" sz="1600" dirty="0"/>
          </a:p>
        </p:txBody>
      </p:sp>
      <p:sp>
        <p:nvSpPr>
          <p:cNvPr id="14" name="Text 10"/>
          <p:cNvSpPr/>
          <p:nvPr/>
        </p:nvSpPr>
        <p:spPr>
          <a:xfrm>
            <a:off x="6559550" y="2449761"/>
            <a:ext cx="190982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B"/>
                </a:solidFill>
                <a:latin typeface="Nunito Sans" pitchFamily="34" charset="0"/>
                <a:ea typeface="Nunito Sans" pitchFamily="34" charset="-122"/>
                <a:cs typeface="Nunito Sans" pitchFamily="34" charset="-120"/>
              </a:rPr>
              <a:t>free food database</a:t>
            </a:r>
            <a:endParaRPr lang="en-US" sz="1300" dirty="0"/>
          </a:p>
        </p:txBody>
      </p:sp>
      <p:pic>
        <p:nvPicPr>
          <p:cNvPr id="15" name="Image 2" descr="connector">    </p:cNvPr>
          <p:cNvPicPr>
            <a:picLocks noChangeAspect="1"/>
          </p:cNvPicPr>
          <p:nvPr/>
        </p:nvPicPr>
        <p:blipFill>
          <a:blip r:embed="rId3"/>
          <a:srcRect l="0" r="0" t="0" b="0"/>
          <a:stretch/>
        </p:blipFill>
        <p:spPr>
          <a:xfrm>
            <a:off x="8699500" y="2350343"/>
            <a:ext cx="355600" cy="127000"/>
          </a:xfrm>
          <a:prstGeom prst="rect">
            <a:avLst/>
          </a:prstGeom>
        </p:spPr>
      </p:pic>
      <p:sp>
        <p:nvSpPr>
          <p:cNvPr id="16" name="Shape 11"/>
          <p:cNvSpPr/>
          <p:nvPr/>
        </p:nvSpPr>
        <p:spPr>
          <a:xfrm>
            <a:off x="9159875" y="1974155"/>
            <a:ext cx="2216150" cy="879425"/>
          </a:xfrm>
          <a:prstGeom prst="roundRect">
            <a:avLst>
              <a:gd name="adj" fmla="val 14080"/>
            </a:avLst>
          </a:prstGeom>
          <a:solidFill>
            <a:srgbClr val="FCFDFB"/>
          </a:solidFill>
          <a:ln w="6350">
            <a:solidFill>
              <a:srgbClr val="D6E0DA"/>
            </a:solidFill>
            <a:prstDash val="solid"/>
          </a:ln>
        </p:spPr>
      </p:sp>
      <p:sp>
        <p:nvSpPr>
          <p:cNvPr id="17" name="Text 12"/>
          <p:cNvSpPr/>
          <p:nvPr/>
        </p:nvSpPr>
        <p:spPr>
          <a:xfrm>
            <a:off x="9340850" y="2155130"/>
            <a:ext cx="190982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302B"/>
                </a:solidFill>
                <a:latin typeface="Rubik" pitchFamily="34" charset="0"/>
                <a:ea typeface="Rubik" pitchFamily="34" charset="-122"/>
                <a:cs typeface="Rubik" pitchFamily="34" charset="-120"/>
              </a:rPr>
              <a:t>App shows it</a:t>
            </a:r>
            <a:endParaRPr lang="en-US" sz="1600" dirty="0"/>
          </a:p>
        </p:txBody>
      </p:sp>
      <p:sp>
        <p:nvSpPr>
          <p:cNvPr id="18" name="Text 13"/>
          <p:cNvSpPr/>
          <p:nvPr/>
        </p:nvSpPr>
        <p:spPr>
          <a:xfrm>
            <a:off x="9340850" y="2449761"/>
            <a:ext cx="190982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C56"/>
                </a:solidFill>
                <a:latin typeface="Nunito Sans" pitchFamily="34" charset="0"/>
                <a:ea typeface="Nunito Sans" pitchFamily="34" charset="-122"/>
                <a:cs typeface="Nunito Sans" pitchFamily="34" charset="-120"/>
              </a:rPr>
              <a:t>and saves it to the log</a:t>
            </a:r>
            <a:endParaRPr lang="en-US" sz="1300" dirty="0"/>
          </a:p>
        </p:txBody>
      </p:sp>
      <p:sp>
        <p:nvSpPr>
          <p:cNvPr id="19" name="Text 14"/>
          <p:cNvSpPr/>
          <p:nvPr/>
        </p:nvSpPr>
        <p:spPr>
          <a:xfrm>
            <a:off x="812800" y="3161556"/>
            <a:ext cx="6705600" cy="2110680"/>
          </a:xfrm>
          <a:prstGeom prst="roundRect">
            <a:avLst>
              <a:gd name="adj" fmla="val 6017"/>
            </a:avLst>
          </a:prstGeom>
          <a:solidFill>
            <a:srgbClr val="16302B"/>
          </a:solidFill>
          <a:ln/>
        </p:spPr>
        <p:txBody>
          <a:bodyPr wrap="square" lIns="242203" tIns="191403" rIns="57799" bIns="166003" rtlCol="0" anchor="t">
            <a:normAutofit/>
          </a:bodyPr>
          <a:lstStyle/>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a:t>
            </a:r>
            <a:endParaRPr lang="en-US" sz="1400" dirty="0"/>
          </a:p>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"product_name": "Margherita Pizza",</a:t>
            </a:r>
            <a:endParaRPr lang="en-US" sz="1400" dirty="0"/>
          </a:p>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"energy-kcal_100g": 235,</a:t>
            </a:r>
            <a:endParaRPr lang="en-US" sz="1400" dirty="0"/>
          </a:p>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"nova_group": 4,</a:t>
            </a:r>
            <a:endParaRPr lang="en-US" sz="1400" dirty="0"/>
          </a:p>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"nutriscore_grade": "d"</a:t>
            </a:r>
            <a:endParaRPr lang="en-US" sz="1400" dirty="0"/>
          </a:p>
          <a:p>
            <a:pPr algn="l" indent="0" marL="0">
              <a:lnSpc>
                <a:spcPts val="2170"/>
              </a:lnSpc>
              <a:buNone/>
            </a:pPr>
            <a:r>
              <a:rPr lang="en-US" sz="1400" dirty="0">
                <a:solidFill>
                  <a:srgbClr val="E6EEE9"/>
                </a:solidFill>
                <a:latin typeface="JetBrains Mono" pitchFamily="49" charset="0"/>
                <a:ea typeface="JetBrains Mono" pitchFamily="49" charset="-122"/>
                <a:cs typeface="JetBrains Mono" pitchFamily="49" charset="-120"/>
              </a:rPr>
              <a:t>}</a:t>
            </a:r>
            <a:endParaRPr lang="en-US" sz="1400" dirty="0"/>
          </a:p>
        </p:txBody>
      </p:sp>
      <p:sp>
        <p:nvSpPr>
          <p:cNvPr id="20" name="Text 15"/>
          <p:cNvSpPr/>
          <p:nvPr/>
        </p:nvSpPr>
        <p:spPr>
          <a:xfrm>
            <a:off x="7823200" y="3477816"/>
            <a:ext cx="366268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6302B"/>
                </a:solidFill>
                <a:latin typeface="Nunito Sans" pitchFamily="34" charset="0"/>
                <a:ea typeface="Nunito Sans" pitchFamily="34" charset="-122"/>
                <a:cs typeface="Nunito Sans" pitchFamily="34" charset="-120"/>
              </a:rPr>
              <a:t>235</a:t>
            </a:r>
            <a:r>
              <a:rPr lang="en-US" sz="1600" dirty="0">
                <a:solidFill>
                  <a:srgbClr val="16302B"/>
                </a:solidFill>
                <a:latin typeface="Nunito Sans" pitchFamily="34" charset="0"/>
                <a:ea typeface="Nunito Sans" pitchFamily="34" charset="-122"/>
                <a:cs typeface="Nunito Sans" pitchFamily="34" charset="-120"/>
              </a:rPr>
              <a:t> → calories per 100 g</a:t>
            </a:r>
            <a:endParaRPr lang="en-US" sz="1600" dirty="0"/>
          </a:p>
        </p:txBody>
      </p:sp>
      <p:sp>
        <p:nvSpPr>
          <p:cNvPr id="21" name="Text 16"/>
          <p:cNvSpPr/>
          <p:nvPr/>
        </p:nvSpPr>
        <p:spPr>
          <a:xfrm>
            <a:off x="7823200" y="3879106"/>
            <a:ext cx="366268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6302B"/>
                </a:solidFill>
                <a:latin typeface="Nunito Sans" pitchFamily="34" charset="0"/>
                <a:ea typeface="Nunito Sans" pitchFamily="34" charset="-122"/>
                <a:cs typeface="Nunito Sans" pitchFamily="34" charset="-120"/>
              </a:rPr>
              <a:t>d</a:t>
            </a:r>
            <a:r>
              <a:rPr lang="en-US" sz="1600" dirty="0">
                <a:solidFill>
                  <a:srgbClr val="16302B"/>
                </a:solidFill>
                <a:latin typeface="Nunito Sans" pitchFamily="34" charset="0"/>
                <a:ea typeface="Nunito Sans" pitchFamily="34" charset="-122"/>
                <a:cs typeface="Nunito Sans" pitchFamily="34" charset="-120"/>
              </a:rPr>
              <a:t> → nutrition: 40 points</a:t>
            </a:r>
            <a:endParaRPr lang="en-US" sz="1600" dirty="0"/>
          </a:p>
        </p:txBody>
      </p:sp>
      <p:sp>
        <p:nvSpPr>
          <p:cNvPr id="22" name="Text 17"/>
          <p:cNvSpPr/>
          <p:nvPr/>
        </p:nvSpPr>
        <p:spPr>
          <a:xfrm>
            <a:off x="7823200" y="4280396"/>
            <a:ext cx="366268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6302B"/>
                </a:solidFill>
                <a:latin typeface="Nunito Sans" pitchFamily="34" charset="0"/>
                <a:ea typeface="Nunito Sans" pitchFamily="34" charset="-122"/>
                <a:cs typeface="Nunito Sans" pitchFamily="34" charset="-120"/>
              </a:rPr>
              <a:t>4</a:t>
            </a:r>
            <a:r>
              <a:rPr lang="en-US" sz="1600" dirty="0">
                <a:solidFill>
                  <a:srgbClr val="16302B"/>
                </a:solidFill>
                <a:latin typeface="Nunito Sans" pitchFamily="34" charset="0"/>
                <a:ea typeface="Nunito Sans" pitchFamily="34" charset="-122"/>
                <a:cs typeface="Nunito Sans" pitchFamily="34" charset="-120"/>
              </a:rPr>
              <a:t> → ultra-processed: −20</a:t>
            </a:r>
            <a:endParaRPr lang="en-US" sz="1600" dirty="0"/>
          </a:p>
        </p:txBody>
      </p:sp>
      <p:sp>
        <p:nvSpPr>
          <p:cNvPr id="23" name="Text 18"/>
          <p:cNvSpPr/>
          <p:nvPr/>
        </p:nvSpPr>
        <p:spPr>
          <a:xfrm>
            <a:off x="7823200" y="4681686"/>
            <a:ext cx="366268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B5481F"/>
                </a:solidFill>
                <a:latin typeface="Nunito Sans" pitchFamily="34" charset="0"/>
                <a:ea typeface="Nunito Sans" pitchFamily="34" charset="-122"/>
                <a:cs typeface="Nunito Sans" pitchFamily="34" charset="-120"/>
              </a:rPr>
              <a:t>Food Score: 20 / 100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MY FOOD SCORE</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One number out of 100</a:t>
            </a:r>
            <a:endParaRPr lang="en-US" sz="3600" dirty="0"/>
          </a:p>
        </p:txBody>
      </p:sp>
      <p:sp>
        <p:nvSpPr>
          <p:cNvPr id="4" name="Shape 2"/>
          <p:cNvSpPr/>
          <p:nvPr/>
        </p:nvSpPr>
        <p:spPr>
          <a:xfrm>
            <a:off x="815975" y="1974155"/>
            <a:ext cx="3384550" cy="3168204"/>
          </a:xfrm>
          <a:prstGeom prst="roundRect">
            <a:avLst>
              <a:gd name="adj" fmla="val 3908"/>
            </a:avLst>
          </a:prstGeom>
          <a:solidFill>
            <a:srgbClr val="FCFDFB"/>
          </a:solidFill>
          <a:ln w="6350">
            <a:solidFill>
              <a:srgbClr val="D6E0DA"/>
            </a:solidFill>
            <a:prstDash val="solid"/>
          </a:ln>
        </p:spPr>
      </p:sp>
      <p:sp>
        <p:nvSpPr>
          <p:cNvPr id="5" name="Text 3"/>
          <p:cNvSpPr/>
          <p:nvPr/>
        </p:nvSpPr>
        <p:spPr>
          <a:xfrm>
            <a:off x="1047750" y="220593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1. Nutrition points</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60450" y="2594521"/>
          <a:ext cx="2908300" cy="2316063"/>
        </p:xfrm>
        <a:graphic>
          <a:graphicData uri="http://schemas.openxmlformats.org/drawingml/2006/table">
            <a:tbl>
              <a:tblPr/>
              <a:tblGrid>
                <a:gridCol w="1454150"/>
                <a:gridCol w="1454150"/>
              </a:tblGrid>
              <a:tr h="386011">
                <a:tc>
                  <a:txBody>
                    <a:bodyPr/>
                    <a:lstStyle/>
                    <a:p>
                      <a:pPr indent="0" marL="0">
                        <a:lnSpc>
                          <a:spcPts val="1960"/>
                        </a:lnSpc>
                        <a:buNone/>
                      </a:pPr>
                      <a:r>
                        <a:rPr lang="en-US" sz="1400" b="1" dirty="0">
                          <a:solidFill>
                            <a:srgbClr val="16302B"/>
                          </a:solidFill>
                          <a:latin typeface="Nunito Sans" pitchFamily="34" charset="0"/>
                          <a:ea typeface="Nunito Sans" pitchFamily="34" charset="-122"/>
                          <a:cs typeface="Nunito Sans" pitchFamily="34" charset="-120"/>
                        </a:rPr>
                        <a:t>Nutri-Score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BABB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ABBB9"/>
                      </a:solidFill>
                      <a:prstDash val="solid"/>
                      <a:round/>
                      <a:headEnd type="none" w="med" len="med"/>
                      <a:tailEnd type="none" w="med" len="med"/>
                    </a:lnB>
                    <a:solidFill>
                      <a:srgbClr val="E9EAE8"/>
                    </a:solidFill>
                  </a:tcPr>
                </a:tc>
                <a:tc>
                  <a:txBody>
                    <a:bodyPr/>
                    <a:lstStyle/>
                    <a:p>
                      <a:pPr algn="r" indent="0" marL="0">
                        <a:lnSpc>
                          <a:spcPts val="1960"/>
                        </a:lnSpc>
                        <a:buNone/>
                      </a:pPr>
                      <a:r>
                        <a:rPr lang="en-US" sz="1400" b="1" dirty="0">
                          <a:solidFill>
                            <a:srgbClr val="16302B"/>
                          </a:solidFill>
                          <a:latin typeface="Nunito Sans" pitchFamily="34" charset="0"/>
                          <a:ea typeface="Nunito Sans" pitchFamily="34" charset="-122"/>
                          <a:cs typeface="Nunito Sans" pitchFamily="34" charset="-120"/>
                        </a:rPr>
                        <a:t>Points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ABBB9"/>
                      </a:solidFill>
                      <a:prstDash val="solid"/>
                      <a:round/>
                      <a:headEnd type="none" w="med" len="med"/>
                      <a:tailEnd type="none" w="med" len="med"/>
                    </a:lnL>
                    <a:lnR w="12700" cap="flat" cmpd="sng" algn="ctr">
                      <a:solidFill>
                        <a:srgbClr val="BABB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ABBB9"/>
                      </a:solidFill>
                      <a:prstDash val="solid"/>
                      <a:round/>
                      <a:headEnd type="none" w="med" len="med"/>
                      <a:tailEnd type="none" w="med" len="med"/>
                    </a:lnB>
                    <a:solidFill>
                      <a:srgbClr val="E9EAE8"/>
                    </a:solidFill>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A</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ABBB9"/>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100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ABBB9"/>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B</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80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C</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60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40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20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bl>
          </a:graphicData>
        </a:graphic>
      </p:graphicFrame>
      <p:sp>
        <p:nvSpPr>
          <p:cNvPr id="7" name="Shape 4"/>
          <p:cNvSpPr/>
          <p:nvPr/>
        </p:nvSpPr>
        <p:spPr>
          <a:xfrm>
            <a:off x="4410075" y="1974155"/>
            <a:ext cx="3384550" cy="2396182"/>
          </a:xfrm>
          <a:prstGeom prst="roundRect">
            <a:avLst>
              <a:gd name="adj" fmla="val 5168"/>
            </a:avLst>
          </a:prstGeom>
          <a:solidFill>
            <a:srgbClr val="FCFDFB"/>
          </a:solidFill>
          <a:ln w="6350">
            <a:solidFill>
              <a:srgbClr val="D6E0DA"/>
            </a:solidFill>
            <a:prstDash val="solid"/>
          </a:ln>
        </p:spPr>
      </p:sp>
      <p:sp>
        <p:nvSpPr>
          <p:cNvPr id="8" name="Text 5"/>
          <p:cNvSpPr/>
          <p:nvPr/>
        </p:nvSpPr>
        <p:spPr>
          <a:xfrm>
            <a:off x="4641850" y="220593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2. Processing penalty</a:t>
            </a:r>
            <a:endParaRPr lang="en-US" sz="18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54550" y="2594521"/>
          <a:ext cx="2908300" cy="1544042"/>
        </p:xfrm>
        <a:graphic>
          <a:graphicData uri="http://schemas.openxmlformats.org/drawingml/2006/table">
            <a:tbl>
              <a:tblPr/>
              <a:tblGrid>
                <a:gridCol w="1744980"/>
                <a:gridCol w="1163320"/>
              </a:tblGrid>
              <a:tr h="386011">
                <a:tc>
                  <a:txBody>
                    <a:bodyPr/>
                    <a:lstStyle/>
                    <a:p>
                      <a:pPr indent="0" marL="0">
                        <a:lnSpc>
                          <a:spcPts val="1960"/>
                        </a:lnSpc>
                        <a:buNone/>
                      </a:pPr>
                      <a:r>
                        <a:rPr lang="en-US" sz="1400" b="1" dirty="0">
                          <a:solidFill>
                            <a:srgbClr val="16302B"/>
                          </a:solidFill>
                          <a:latin typeface="Nunito Sans" pitchFamily="34" charset="0"/>
                          <a:ea typeface="Nunito Sans" pitchFamily="34" charset="-122"/>
                          <a:cs typeface="Nunito Sans" pitchFamily="34" charset="-120"/>
                        </a:rPr>
                        <a:t>Food is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BABB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ABBB9"/>
                      </a:solidFill>
                      <a:prstDash val="solid"/>
                      <a:round/>
                      <a:headEnd type="none" w="med" len="med"/>
                      <a:tailEnd type="none" w="med" len="med"/>
                    </a:lnB>
                    <a:solidFill>
                      <a:srgbClr val="E9EAE8"/>
                    </a:solidFill>
                  </a:tcPr>
                </a:tc>
                <a:tc>
                  <a:txBody>
                    <a:bodyPr/>
                    <a:lstStyle/>
                    <a:p>
                      <a:pPr algn="r" indent="0" marL="0">
                        <a:lnSpc>
                          <a:spcPts val="1960"/>
                        </a:lnSpc>
                        <a:buNone/>
                      </a:pPr>
                      <a:r>
                        <a:rPr lang="en-US" sz="1400" b="1" dirty="0">
                          <a:solidFill>
                            <a:srgbClr val="16302B"/>
                          </a:solidFill>
                          <a:latin typeface="Nunito Sans" pitchFamily="34" charset="0"/>
                          <a:ea typeface="Nunito Sans" pitchFamily="34" charset="-122"/>
                          <a:cs typeface="Nunito Sans" pitchFamily="34" charset="-120"/>
                        </a:rPr>
                        <a:t>Points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ABBB9"/>
                      </a:solidFill>
                      <a:prstDash val="solid"/>
                      <a:round/>
                      <a:headEnd type="none" w="med" len="med"/>
                      <a:tailEnd type="none" w="med" len="med"/>
                    </a:lnL>
                    <a:lnR w="12700" cap="flat" cmpd="sng" algn="ctr">
                      <a:solidFill>
                        <a:srgbClr val="BABB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ABBB9"/>
                      </a:solidFill>
                      <a:prstDash val="solid"/>
                      <a:round/>
                      <a:headEnd type="none" w="med" len="med"/>
                      <a:tailEnd type="none" w="med" len="med"/>
                    </a:lnB>
                    <a:solidFill>
                      <a:srgbClr val="E9EAE8"/>
                    </a:solidFill>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Fresh or minimal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ABBB9"/>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ABBB9"/>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Processed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Ultra-processed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c>
                  <a:txBody>
                    <a:bodyPr/>
                    <a:lstStyle/>
                    <a:p>
                      <a:pPr algn="r" indent="0" marL="0">
                        <a:lnSpc>
                          <a:spcPts val="1960"/>
                        </a:lnSpc>
                        <a:buNone/>
                      </a:pPr>
                      <a:r>
                        <a:rPr lang="en-US" sz="1400" dirty="0">
                          <a:solidFill>
                            <a:srgbClr val="16302B"/>
                          </a:solidFill>
                          <a:latin typeface="Nunito Sans" pitchFamily="34" charset="0"/>
                          <a:ea typeface="Nunito Sans" pitchFamily="34" charset="-122"/>
                          <a:cs typeface="Nunito Sans" pitchFamily="34" charset="-120"/>
                        </a:rPr>
                        <a:t>−20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tcPr>
                </a:tc>
              </a:tr>
            </a:tbl>
          </a:graphicData>
        </a:graphic>
      </p:graphicFrame>
      <p:sp>
        <p:nvSpPr>
          <p:cNvPr id="10" name="Shape 6"/>
          <p:cNvSpPr/>
          <p:nvPr/>
        </p:nvSpPr>
        <p:spPr>
          <a:xfrm>
            <a:off x="8001000" y="1970980"/>
            <a:ext cx="3378200" cy="2605832"/>
          </a:xfrm>
          <a:prstGeom prst="roundRect">
            <a:avLst>
              <a:gd name="adj" fmla="val 4874"/>
            </a:avLst>
          </a:prstGeom>
          <a:solidFill>
            <a:srgbClr val="16302B"/>
          </a:solidFill>
          <a:ln/>
        </p:spPr>
      </p:sp>
      <p:sp>
        <p:nvSpPr>
          <p:cNvPr id="11" name="Text 7"/>
          <p:cNvSpPr/>
          <p:nvPr/>
        </p:nvSpPr>
        <p:spPr>
          <a:xfrm>
            <a:off x="8229600" y="2199580"/>
            <a:ext cx="30086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25C"/>
                </a:solidFill>
                <a:latin typeface="Rubik" pitchFamily="34" charset="0"/>
                <a:ea typeface="Rubik" pitchFamily="34" charset="-122"/>
                <a:cs typeface="Rubik" pitchFamily="34" charset="-120"/>
              </a:rPr>
              <a:t>Examples</a:t>
            </a:r>
            <a:endParaRPr lang="en-US" sz="1800" dirty="0"/>
          </a:p>
        </p:txBody>
      </p:sp>
      <p:sp>
        <p:nvSpPr>
          <p:cNvPr id="12" name="Text 8"/>
          <p:cNvSpPr/>
          <p:nvPr/>
        </p:nvSpPr>
        <p:spPr>
          <a:xfrm>
            <a:off x="8229600" y="2600871"/>
            <a:ext cx="300863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6F0"/>
                </a:solidFill>
                <a:latin typeface="Nunito Sans" pitchFamily="34" charset="0"/>
                <a:ea typeface="Nunito Sans" pitchFamily="34" charset="-122"/>
                <a:cs typeface="Nunito Sans" pitchFamily="34" charset="-120"/>
              </a:rPr>
              <a:t>Plain oats</a:t>
            </a:r>
            <a:endParaRPr lang="en-US" sz="1400" dirty="0"/>
          </a:p>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A, fresh: 100 − 0 =</a:t>
            </a:r>
            <a:r>
              <a:rPr lang="en-US" sz="1400" dirty="0">
                <a:solidFill>
                  <a:srgbClr val="F3F6F0"/>
                </a:solidFill>
                <a:latin typeface="Nunito Sans" pitchFamily="34" charset="0"/>
                <a:ea typeface="Nunito Sans" pitchFamily="34" charset="-122"/>
                <a:cs typeface="Nunito Sans" pitchFamily="34" charset="-120"/>
              </a:rPr>
              <a:t> </a:t>
            </a:r>
            <a:r>
              <a:rPr lang="en-US" sz="1400" b="1" dirty="0">
                <a:solidFill>
                  <a:srgbClr val="F3F6F0"/>
                </a:solidFill>
                <a:latin typeface="Nunito Sans" pitchFamily="34" charset="0"/>
                <a:ea typeface="Nunito Sans" pitchFamily="34" charset="-122"/>
                <a:cs typeface="Nunito Sans" pitchFamily="34" charset="-120"/>
              </a:rPr>
              <a:t>100</a:t>
            </a:r>
            <a:endParaRPr lang="en-US" sz="1400" dirty="0"/>
          </a:p>
        </p:txBody>
      </p:sp>
      <p:sp>
        <p:nvSpPr>
          <p:cNvPr id="13" name="Text 9"/>
          <p:cNvSpPr/>
          <p:nvPr/>
        </p:nvSpPr>
        <p:spPr>
          <a:xfrm>
            <a:off x="8229600" y="3225651"/>
            <a:ext cx="300863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6F0"/>
                </a:solidFill>
                <a:latin typeface="Nunito Sans" pitchFamily="34" charset="0"/>
                <a:ea typeface="Nunito Sans" pitchFamily="34" charset="-122"/>
                <a:cs typeface="Nunito Sans" pitchFamily="34" charset="-120"/>
              </a:rPr>
              <a:t>Wholemeal bread</a:t>
            </a:r>
            <a:endParaRPr lang="en-US" sz="1400" dirty="0"/>
          </a:p>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B, processed: 80 − 10 =</a:t>
            </a:r>
            <a:r>
              <a:rPr lang="en-US" sz="1400" dirty="0">
                <a:solidFill>
                  <a:srgbClr val="F3F6F0"/>
                </a:solidFill>
                <a:latin typeface="Nunito Sans" pitchFamily="34" charset="0"/>
                <a:ea typeface="Nunito Sans" pitchFamily="34" charset="-122"/>
                <a:cs typeface="Nunito Sans" pitchFamily="34" charset="-120"/>
              </a:rPr>
              <a:t> </a:t>
            </a:r>
            <a:r>
              <a:rPr lang="en-US" sz="1400" b="1" dirty="0">
                <a:solidFill>
                  <a:srgbClr val="F3F6F0"/>
                </a:solidFill>
                <a:latin typeface="Nunito Sans" pitchFamily="34" charset="0"/>
                <a:ea typeface="Nunito Sans" pitchFamily="34" charset="-122"/>
                <a:cs typeface="Nunito Sans" pitchFamily="34" charset="-120"/>
              </a:rPr>
              <a:t>70</a:t>
            </a:r>
            <a:endParaRPr lang="en-US" sz="1400" dirty="0"/>
          </a:p>
        </p:txBody>
      </p:sp>
      <p:sp>
        <p:nvSpPr>
          <p:cNvPr id="14" name="Text 10"/>
          <p:cNvSpPr/>
          <p:nvPr/>
        </p:nvSpPr>
        <p:spPr>
          <a:xfrm>
            <a:off x="8229600" y="3850432"/>
            <a:ext cx="300863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6F0"/>
                </a:solidFill>
                <a:latin typeface="Nunito Sans" pitchFamily="34" charset="0"/>
                <a:ea typeface="Nunito Sans" pitchFamily="34" charset="-122"/>
                <a:cs typeface="Nunito Sans" pitchFamily="34" charset="-120"/>
              </a:rPr>
              <a:t>Frozen pizza</a:t>
            </a:r>
            <a:endParaRPr lang="en-US" sz="1400" dirty="0"/>
          </a:p>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D, ultra-processed: 40 − 20 =</a:t>
            </a:r>
            <a:r>
              <a:rPr lang="en-US" sz="1400" dirty="0">
                <a:solidFill>
                  <a:srgbClr val="F3F6F0"/>
                </a:solidFill>
                <a:latin typeface="Nunito Sans" pitchFamily="34" charset="0"/>
                <a:ea typeface="Nunito Sans" pitchFamily="34" charset="-122"/>
                <a:cs typeface="Nunito Sans" pitchFamily="34" charset="-120"/>
              </a:rPr>
              <a:t> </a:t>
            </a:r>
            <a:r>
              <a:rPr lang="en-US" sz="1400" b="1" dirty="0">
                <a:solidFill>
                  <a:srgbClr val="F3F6F0"/>
                </a:solidFill>
                <a:latin typeface="Nunito Sans" pitchFamily="34" charset="0"/>
                <a:ea typeface="Nunito Sans" pitchFamily="34" charset="-122"/>
                <a:cs typeface="Nunito Sans" pitchFamily="34" charset="-120"/>
              </a:rPr>
              <a:t>20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PROOF OF CONCEPT</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It already works: live demo</a:t>
            </a:r>
            <a:endParaRPr lang="en-US" sz="3600" dirty="0"/>
          </a:p>
        </p:txBody>
      </p:sp>
      <p:sp>
        <p:nvSpPr>
          <p:cNvPr id="4" name="Text 2"/>
          <p:cNvSpPr/>
          <p:nvPr/>
        </p:nvSpPr>
        <p:spPr>
          <a:xfrm>
            <a:off x="812800" y="1920180"/>
            <a:ext cx="7010400" cy="2582912"/>
          </a:xfrm>
          <a:prstGeom prst="roundRect">
            <a:avLst>
              <a:gd name="adj" fmla="val 4917"/>
            </a:avLst>
          </a:prstGeom>
          <a:solidFill>
            <a:srgbClr val="16302B"/>
          </a:solidFill>
          <a:ln/>
        </p:spPr>
        <p:txBody>
          <a:bodyPr wrap="square" lIns="216803" tIns="191403" rIns="21731" bIns="166003" rtlCol="0" anchor="t">
            <a:normAutofit/>
          </a:bodyPr>
          <a:lstStyle/>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barcode = input("Enter a barcode: ")</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url = f".../api/v2/product/{barcode}.json"</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response = requests.get(url, headers=headers)</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data = response.json()</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if data.get("status") != 1:</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    print("Sorry, not in the database.")</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    exit()</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product = data["product"]</a:t>
            </a:r>
            <a:endParaRPr lang="en-US" sz="1200" dirty="0"/>
          </a:p>
          <a:p>
            <a:pPr algn="l" indent="0" marL="0">
              <a:lnSpc>
                <a:spcPts val="1860"/>
              </a:lnSpc>
              <a:buNone/>
            </a:pPr>
            <a:r>
              <a:rPr lang="en-US" sz="1200" dirty="0">
                <a:solidFill>
                  <a:srgbClr val="E6EEE9"/>
                </a:solidFill>
                <a:latin typeface="JetBrains Mono" pitchFamily="49" charset="0"/>
                <a:ea typeface="JetBrains Mono" pitchFamily="49" charset="-122"/>
                <a:cs typeface="JetBrains Mono" pitchFamily="49" charset="-120"/>
              </a:rPr>
              <a:t>nova = product.get("nova_group", "Unknown")</a:t>
            </a:r>
            <a:endParaRPr lang="en-US" sz="1200" dirty="0"/>
          </a:p>
        </p:txBody>
      </p:sp>
      <p:sp>
        <p:nvSpPr>
          <p:cNvPr id="5" name="Text 3"/>
          <p:cNvSpPr/>
          <p:nvPr/>
        </p:nvSpPr>
        <p:spPr>
          <a:xfrm>
            <a:off x="8077200" y="1920180"/>
            <a:ext cx="340106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302B"/>
                </a:solidFill>
                <a:latin typeface="Nunito Sans" pitchFamily="34" charset="0"/>
                <a:ea typeface="Nunito Sans" pitchFamily="34" charset="-122"/>
                <a:cs typeface="Nunito Sans" pitchFamily="34" charset="-120"/>
              </a:rPr>
              <a:t>1.</a:t>
            </a:r>
            <a:r>
              <a:rPr lang="en-US" sz="1500" dirty="0">
                <a:solidFill>
                  <a:srgbClr val="16302B"/>
                </a:solidFill>
                <a:latin typeface="Nunito Sans" pitchFamily="34" charset="0"/>
                <a:ea typeface="Nunito Sans" pitchFamily="34" charset="-122"/>
                <a:cs typeface="Nunito Sans" pitchFamily="34" charset="-120"/>
              </a:rPr>
              <a:t> User types a barcode</a:t>
            </a:r>
            <a:endParaRPr lang="en-US" sz="1500" dirty="0"/>
          </a:p>
        </p:txBody>
      </p:sp>
      <p:sp>
        <p:nvSpPr>
          <p:cNvPr id="6" name="Text 4"/>
          <p:cNvSpPr/>
          <p:nvPr/>
        </p:nvSpPr>
        <p:spPr>
          <a:xfrm>
            <a:off x="8077200" y="2304355"/>
            <a:ext cx="340106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302B"/>
                </a:solidFill>
                <a:latin typeface="Nunito Sans" pitchFamily="34" charset="0"/>
                <a:ea typeface="Nunito Sans" pitchFamily="34" charset="-122"/>
                <a:cs typeface="Nunito Sans" pitchFamily="34" charset="-120"/>
              </a:rPr>
              <a:t>2.</a:t>
            </a:r>
            <a:r>
              <a:rPr lang="en-US" sz="1500" dirty="0">
                <a:solidFill>
                  <a:srgbClr val="16302B"/>
                </a:solidFill>
                <a:latin typeface="Nunito Sans" pitchFamily="34" charset="0"/>
                <a:ea typeface="Nunito Sans" pitchFamily="34" charset="-122"/>
                <a:cs typeface="Nunito Sans" pitchFamily="34" charset="-120"/>
              </a:rPr>
              <a:t> Request sent to the API</a:t>
            </a:r>
            <a:endParaRPr lang="en-US" sz="1500" dirty="0"/>
          </a:p>
        </p:txBody>
      </p:sp>
      <p:sp>
        <p:nvSpPr>
          <p:cNvPr id="7" name="Text 5"/>
          <p:cNvSpPr/>
          <p:nvPr/>
        </p:nvSpPr>
        <p:spPr>
          <a:xfrm>
            <a:off x="8077200" y="2688530"/>
            <a:ext cx="340106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302B"/>
                </a:solidFill>
                <a:latin typeface="Nunito Sans" pitchFamily="34" charset="0"/>
                <a:ea typeface="Nunito Sans" pitchFamily="34" charset="-122"/>
                <a:cs typeface="Nunito Sans" pitchFamily="34" charset="-120"/>
              </a:rPr>
              <a:t>3.</a:t>
            </a:r>
            <a:r>
              <a:rPr lang="en-US" sz="1500" dirty="0">
                <a:solidFill>
                  <a:srgbClr val="16302B"/>
                </a:solidFill>
                <a:latin typeface="Nunito Sans" pitchFamily="34" charset="0"/>
                <a:ea typeface="Nunito Sans" pitchFamily="34" charset="-122"/>
                <a:cs typeface="Nunito Sans" pitchFamily="34" charset="-120"/>
              </a:rPr>
              <a:t> JSON comes back</a:t>
            </a:r>
            <a:endParaRPr lang="en-US" sz="1500" dirty="0"/>
          </a:p>
        </p:txBody>
      </p:sp>
      <p:sp>
        <p:nvSpPr>
          <p:cNvPr id="8" name="Text 6"/>
          <p:cNvSpPr/>
          <p:nvPr/>
        </p:nvSpPr>
        <p:spPr>
          <a:xfrm>
            <a:off x="8077200" y="3072705"/>
            <a:ext cx="340106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302B"/>
                </a:solidFill>
                <a:latin typeface="Nunito Sans" pitchFamily="34" charset="0"/>
                <a:ea typeface="Nunito Sans" pitchFamily="34" charset="-122"/>
                <a:cs typeface="Nunito Sans" pitchFamily="34" charset="-120"/>
              </a:rPr>
              <a:t>4.</a:t>
            </a:r>
            <a:r>
              <a:rPr lang="en-US" sz="1500" dirty="0">
                <a:solidFill>
                  <a:srgbClr val="16302B"/>
                </a:solidFill>
                <a:latin typeface="Nunito Sans" pitchFamily="34" charset="0"/>
                <a:ea typeface="Nunito Sans" pitchFamily="34" charset="-122"/>
                <a:cs typeface="Nunito Sans" pitchFamily="34" charset="-120"/>
              </a:rPr>
              <a:t> Check the product exists</a:t>
            </a:r>
            <a:endParaRPr lang="en-US" sz="1500" dirty="0"/>
          </a:p>
        </p:txBody>
      </p:sp>
      <p:sp>
        <p:nvSpPr>
          <p:cNvPr id="9" name="Text 7"/>
          <p:cNvSpPr/>
          <p:nvPr/>
        </p:nvSpPr>
        <p:spPr>
          <a:xfrm>
            <a:off x="8077200" y="3456880"/>
            <a:ext cx="340106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302B"/>
                </a:solidFill>
                <a:latin typeface="Nunito Sans" pitchFamily="34" charset="0"/>
                <a:ea typeface="Nunito Sans" pitchFamily="34" charset="-122"/>
                <a:cs typeface="Nunito Sans" pitchFamily="34" charset="-120"/>
              </a:rPr>
              <a:t>5.</a:t>
            </a:r>
            <a:r>
              <a:rPr lang="en-US" sz="1500" dirty="0">
                <a:solidFill>
                  <a:srgbClr val="16302B"/>
                </a:solidFill>
                <a:latin typeface="Nunito Sans" pitchFamily="34" charset="0"/>
                <a:ea typeface="Nunito Sans" pitchFamily="34" charset="-122"/>
                <a:cs typeface="Nunito Sans" pitchFamily="34" charset="-120"/>
              </a:rPr>
              <a:t> Work out the Food Score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CE5"/>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ROADMAP</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Website first, then a phone app</a:t>
            </a:r>
            <a:endParaRPr lang="en-US" sz="3600" dirty="0"/>
          </a:p>
        </p:txBody>
      </p:sp>
      <p:sp>
        <p:nvSpPr>
          <p:cNvPr id="4" name="Shape 2"/>
          <p:cNvSpPr/>
          <p:nvPr/>
        </p:nvSpPr>
        <p:spPr>
          <a:xfrm>
            <a:off x="812800" y="2021780"/>
            <a:ext cx="2479675" cy="2570311"/>
          </a:xfrm>
          <a:prstGeom prst="roundRect">
            <a:avLst>
              <a:gd name="adj" fmla="val 5122"/>
            </a:avLst>
          </a:prstGeom>
          <a:solidFill>
            <a:srgbClr val="16302B"/>
          </a:solidFill>
          <a:ln/>
        </p:spPr>
      </p:sp>
      <p:sp>
        <p:nvSpPr>
          <p:cNvPr id="5" name="Text 3"/>
          <p:cNvSpPr/>
          <p:nvPr/>
        </p:nvSpPr>
        <p:spPr>
          <a:xfrm>
            <a:off x="1041400" y="2250380"/>
            <a:ext cx="208314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A25C"/>
                </a:solidFill>
                <a:latin typeface="Rubik" pitchFamily="34" charset="0"/>
                <a:ea typeface="Rubik" pitchFamily="34" charset="-122"/>
                <a:cs typeface="Rubik" pitchFamily="34" charset="-120"/>
              </a:rPr>
              <a:t>1</a:t>
            </a:r>
            <a:endParaRPr lang="en-US" sz="2800" dirty="0"/>
          </a:p>
        </p:txBody>
      </p:sp>
      <p:sp>
        <p:nvSpPr>
          <p:cNvPr id="6" name="Text 4"/>
          <p:cNvSpPr/>
          <p:nvPr/>
        </p:nvSpPr>
        <p:spPr>
          <a:xfrm>
            <a:off x="1041400" y="2849811"/>
            <a:ext cx="208314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6F0"/>
                </a:solidFill>
                <a:latin typeface="Rubik" pitchFamily="34" charset="0"/>
                <a:ea typeface="Rubik" pitchFamily="34" charset="-122"/>
                <a:cs typeface="Rubik" pitchFamily="34" charset="-120"/>
              </a:rPr>
              <a:t>Learn the API</a:t>
            </a:r>
            <a:endParaRPr lang="en-US" sz="1800" dirty="0"/>
          </a:p>
        </p:txBody>
      </p:sp>
      <p:sp>
        <p:nvSpPr>
          <p:cNvPr id="7" name="Text 5"/>
          <p:cNvSpPr/>
          <p:nvPr/>
        </p:nvSpPr>
        <p:spPr>
          <a:xfrm>
            <a:off x="1041400" y="3225701"/>
            <a:ext cx="208314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Nunito Sans" pitchFamily="34" charset="0"/>
                <a:ea typeface="Nunito Sans" pitchFamily="34" charset="-122"/>
                <a:cs typeface="Nunito Sans" pitchFamily="34" charset="-120"/>
              </a:rPr>
              <a:t>Python script pulls food data and saves it to a spreadsheet.</a:t>
            </a:r>
            <a:endParaRPr lang="en-US" sz="1400" dirty="0"/>
          </a:p>
        </p:txBody>
      </p:sp>
      <p:sp>
        <p:nvSpPr>
          <p:cNvPr id="8" name="Text 6"/>
          <p:cNvSpPr/>
          <p:nvPr/>
        </p:nvSpPr>
        <p:spPr>
          <a:xfrm>
            <a:off x="1041400" y="4073971"/>
            <a:ext cx="604292" cy="289520"/>
          </a:xfrm>
          <a:custGeom>
            <a:avLst/>
            <a:gdLst/>
            <a:ahLst/>
            <a:cxnLst/>
            <a:rect l="l" t="t" r="r" b="b"/>
            <a:pathLst>
              <a:path w="604292" h="289520">
                <a:moveTo>
                  <a:pt x="144760" y="0"/>
                </a:moveTo>
                <a:lnTo>
                  <a:pt x="459532" y="0"/>
                </a:lnTo>
                <a:arcTo hR="144760" wR="144760" stAng="16200000" swAng="5400000"/>
                <a:lnTo>
                  <a:pt x="60429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A25C"/>
          </a:solidFill>
          <a:ln/>
        </p:spPr>
        <p:txBody>
          <a:bodyPr wrap="none" lIns="0" tIns="0" rIns="0" bIns="0" rtlCol="0" anchor="ctr">
            <a:normAutofit/>
          </a:bodyPr>
          <a:lstStyle/>
          <a:p>
            <a:pPr algn="ctr" indent="0" marL="0">
              <a:lnSpc>
                <a:spcPts val="1680"/>
              </a:lnSpc>
              <a:buNone/>
            </a:pPr>
            <a:r>
              <a:rPr lang="en-US" sz="1200" b="1" dirty="0">
                <a:solidFill>
                  <a:srgbClr val="16302B"/>
                </a:solidFill>
                <a:latin typeface="Nunito Sans" pitchFamily="34" charset="0"/>
                <a:ea typeface="Nunito Sans" pitchFamily="34" charset="-122"/>
                <a:cs typeface="Nunito Sans" pitchFamily="34" charset="-120"/>
              </a:rPr>
              <a:t>Done</a:t>
            </a:r>
            <a:endParaRPr lang="en-US" sz="1200" dirty="0"/>
          </a:p>
        </p:txBody>
      </p:sp>
      <p:sp>
        <p:nvSpPr>
          <p:cNvPr id="9" name="Shape 7"/>
          <p:cNvSpPr/>
          <p:nvPr/>
        </p:nvSpPr>
        <p:spPr>
          <a:xfrm>
            <a:off x="3498850" y="2024955"/>
            <a:ext cx="2486025" cy="2563961"/>
          </a:xfrm>
          <a:prstGeom prst="roundRect">
            <a:avLst>
              <a:gd name="adj" fmla="val 4981"/>
            </a:avLst>
          </a:prstGeom>
          <a:solidFill>
            <a:srgbClr val="FCFDFB"/>
          </a:solidFill>
          <a:ln w="6350">
            <a:solidFill>
              <a:srgbClr val="CBD8CF"/>
            </a:solidFill>
            <a:prstDash val="solid"/>
          </a:ln>
        </p:spPr>
      </p:sp>
      <p:sp>
        <p:nvSpPr>
          <p:cNvPr id="10" name="Text 8"/>
          <p:cNvSpPr/>
          <p:nvPr/>
        </p:nvSpPr>
        <p:spPr>
          <a:xfrm>
            <a:off x="3730625" y="2256730"/>
            <a:ext cx="208314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81F"/>
                </a:solidFill>
                <a:latin typeface="Rubik" pitchFamily="34" charset="0"/>
                <a:ea typeface="Rubik" pitchFamily="34" charset="-122"/>
                <a:cs typeface="Rubik" pitchFamily="34" charset="-120"/>
              </a:rPr>
              <a:t>2</a:t>
            </a:r>
            <a:endParaRPr lang="en-US" sz="2800" dirty="0"/>
          </a:p>
        </p:txBody>
      </p:sp>
      <p:sp>
        <p:nvSpPr>
          <p:cNvPr id="11" name="Text 9"/>
          <p:cNvSpPr/>
          <p:nvPr/>
        </p:nvSpPr>
        <p:spPr>
          <a:xfrm>
            <a:off x="3730625" y="2856161"/>
            <a:ext cx="208314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Build the website</a:t>
            </a:r>
            <a:endParaRPr lang="en-US" sz="1800" dirty="0"/>
          </a:p>
        </p:txBody>
      </p:sp>
      <p:sp>
        <p:nvSpPr>
          <p:cNvPr id="12" name="Text 10"/>
          <p:cNvSpPr/>
          <p:nvPr/>
        </p:nvSpPr>
        <p:spPr>
          <a:xfrm>
            <a:off x="3730625" y="3232051"/>
            <a:ext cx="208314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C56"/>
                </a:solidFill>
                <a:latin typeface="Nunito Sans" pitchFamily="34" charset="0"/>
                <a:ea typeface="Nunito Sans" pitchFamily="34" charset="-122"/>
                <a:cs typeface="Nunito Sans" pitchFamily="34" charset="-120"/>
              </a:rPr>
              <a:t>Search foods, add them to a daily log, see the total.</a:t>
            </a:r>
            <a:endParaRPr lang="en-US" sz="1400" dirty="0"/>
          </a:p>
        </p:txBody>
      </p:sp>
      <p:sp>
        <p:nvSpPr>
          <p:cNvPr id="13" name="Shape 11"/>
          <p:cNvSpPr/>
          <p:nvPr/>
        </p:nvSpPr>
        <p:spPr>
          <a:xfrm>
            <a:off x="6194425" y="2024955"/>
            <a:ext cx="2486025" cy="2563961"/>
          </a:xfrm>
          <a:prstGeom prst="roundRect">
            <a:avLst>
              <a:gd name="adj" fmla="val 4981"/>
            </a:avLst>
          </a:prstGeom>
          <a:solidFill>
            <a:srgbClr val="FCFDFB"/>
          </a:solidFill>
          <a:ln w="6350">
            <a:solidFill>
              <a:srgbClr val="CBD8CF"/>
            </a:solidFill>
            <a:prstDash val="solid"/>
          </a:ln>
        </p:spPr>
      </p:sp>
      <p:sp>
        <p:nvSpPr>
          <p:cNvPr id="14" name="Text 12"/>
          <p:cNvSpPr/>
          <p:nvPr/>
        </p:nvSpPr>
        <p:spPr>
          <a:xfrm>
            <a:off x="6426200" y="2256730"/>
            <a:ext cx="208314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81F"/>
                </a:solidFill>
                <a:latin typeface="Rubik" pitchFamily="34" charset="0"/>
                <a:ea typeface="Rubik" pitchFamily="34" charset="-122"/>
                <a:cs typeface="Rubik" pitchFamily="34" charset="-120"/>
              </a:rPr>
              <a:t>3</a:t>
            </a:r>
            <a:endParaRPr lang="en-US" sz="2800" dirty="0"/>
          </a:p>
        </p:txBody>
      </p:sp>
      <p:sp>
        <p:nvSpPr>
          <p:cNvPr id="15" name="Text 13"/>
          <p:cNvSpPr/>
          <p:nvPr/>
        </p:nvSpPr>
        <p:spPr>
          <a:xfrm>
            <a:off x="6426200" y="2856161"/>
            <a:ext cx="2083149"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Add the Food Score</a:t>
            </a:r>
            <a:endParaRPr lang="en-US" sz="1800" dirty="0"/>
          </a:p>
        </p:txBody>
      </p:sp>
      <p:sp>
        <p:nvSpPr>
          <p:cNvPr id="16" name="Text 14"/>
          <p:cNvSpPr/>
          <p:nvPr/>
        </p:nvSpPr>
        <p:spPr>
          <a:xfrm>
            <a:off x="6426200" y="3506341"/>
            <a:ext cx="208314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C56"/>
                </a:solidFill>
                <a:latin typeface="Nunito Sans" pitchFamily="34" charset="0"/>
                <a:ea typeface="Nunito Sans" pitchFamily="34" charset="-122"/>
                <a:cs typeface="Nunito Sans" pitchFamily="34" charset="-120"/>
              </a:rPr>
              <a:t>One score out of 100 for each food and for the whole day.</a:t>
            </a:r>
            <a:endParaRPr lang="en-US" sz="1400" dirty="0"/>
          </a:p>
        </p:txBody>
      </p:sp>
      <p:sp>
        <p:nvSpPr>
          <p:cNvPr id="17" name="Shape 15"/>
          <p:cNvSpPr/>
          <p:nvPr/>
        </p:nvSpPr>
        <p:spPr>
          <a:xfrm>
            <a:off x="8890000" y="2024955"/>
            <a:ext cx="2486025" cy="2563961"/>
          </a:xfrm>
          <a:prstGeom prst="roundRect">
            <a:avLst>
              <a:gd name="adj" fmla="val 4981"/>
            </a:avLst>
          </a:prstGeom>
          <a:solidFill>
            <a:srgbClr val="FCFDFB"/>
          </a:solidFill>
          <a:ln w="6350">
            <a:solidFill>
              <a:srgbClr val="CBD8CF"/>
            </a:solidFill>
            <a:prstDash val="solid"/>
          </a:ln>
        </p:spPr>
      </p:sp>
      <p:sp>
        <p:nvSpPr>
          <p:cNvPr id="18" name="Text 16"/>
          <p:cNvSpPr/>
          <p:nvPr/>
        </p:nvSpPr>
        <p:spPr>
          <a:xfrm>
            <a:off x="9121775" y="2256730"/>
            <a:ext cx="208314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81F"/>
                </a:solidFill>
                <a:latin typeface="Rubik" pitchFamily="34" charset="0"/>
                <a:ea typeface="Rubik" pitchFamily="34" charset="-122"/>
                <a:cs typeface="Rubik" pitchFamily="34" charset="-120"/>
              </a:rPr>
              <a:t>4</a:t>
            </a:r>
            <a:endParaRPr lang="en-US" sz="2800" dirty="0"/>
          </a:p>
        </p:txBody>
      </p:sp>
      <p:sp>
        <p:nvSpPr>
          <p:cNvPr id="19" name="Text 17"/>
          <p:cNvSpPr/>
          <p:nvPr/>
        </p:nvSpPr>
        <p:spPr>
          <a:xfrm>
            <a:off x="9121775" y="2856161"/>
            <a:ext cx="208314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302B"/>
                </a:solidFill>
                <a:latin typeface="Rubik" pitchFamily="34" charset="0"/>
                <a:ea typeface="Rubik" pitchFamily="34" charset="-122"/>
                <a:cs typeface="Rubik" pitchFamily="34" charset="-120"/>
              </a:rPr>
              <a:t>Make it an app</a:t>
            </a:r>
            <a:endParaRPr lang="en-US" sz="1800" dirty="0"/>
          </a:p>
        </p:txBody>
      </p:sp>
      <p:sp>
        <p:nvSpPr>
          <p:cNvPr id="20" name="Text 18"/>
          <p:cNvSpPr/>
          <p:nvPr/>
        </p:nvSpPr>
        <p:spPr>
          <a:xfrm>
            <a:off x="9121775" y="3232051"/>
            <a:ext cx="208314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C56"/>
                </a:solidFill>
                <a:latin typeface="Nunito Sans" pitchFamily="34" charset="0"/>
                <a:ea typeface="Nunito Sans" pitchFamily="34" charset="-122"/>
                <a:cs typeface="Nunito Sans" pitchFamily="34" charset="-120"/>
              </a:rPr>
              <a:t>Turn the website into a phone app, maybe with barcode scanning.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DELIVERY PLAN · WEEKS 1–6</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Research, then core features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53700" cy="2515245"/>
        </p:xfrm>
        <a:graphic>
          <a:graphicData uri="http://schemas.openxmlformats.org/drawingml/2006/table">
            <a:tbl>
              <a:tblPr/>
              <a:tblGrid>
                <a:gridCol w="844296"/>
                <a:gridCol w="2532888"/>
                <a:gridCol w="5910072"/>
                <a:gridCol w="1266444"/>
              </a:tblGrid>
              <a:tr h="359321">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Week</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Focus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Deliverable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Objective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B6BCB7"/>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B6BCB7"/>
                      </a:solidFill>
                      <a:prstDash val="solid"/>
                      <a:round/>
                      <a:headEnd type="none" w="med" len="med"/>
                      <a:tailEnd type="none" w="med" len="med"/>
                    </a:lnB>
                    <a:solidFill>
                      <a:srgbClr val="E4ECE5"/>
                    </a:solidFill>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Set-up and API test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CB7"/>
                      </a:solidFill>
                      <a:prstDash val="solid"/>
                      <a:round/>
                      <a:headEnd type="none" w="med" len="med"/>
                      <a:tailEnd type="none" w="med" len="med"/>
                    </a:lnL>
                    <a:lnR w="12700" cap="flat" cmpd="sng" algn="ctr">
                      <a:solidFill>
                        <a:srgbClr val="B6BCB7"/>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B6BCB7"/>
                      </a:solidFill>
                      <a:prstDash val="solid"/>
                      <a:round/>
                      <a:headEnd type="none" w="med" len="med"/>
                      <a:tailEnd type="none" w="med" len="med"/>
                    </a:lnB>
                    <a:solidFill>
                      <a:srgbClr val="E4ECE5"/>
                    </a:solidFill>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Python script pulls data by barcode; GitHub repo and project board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CB7"/>
                      </a:solidFill>
                      <a:prstDash val="solid"/>
                      <a:round/>
                      <a:headEnd type="none" w="med" len="med"/>
                      <a:tailEnd type="none" w="med" len="med"/>
                    </a:lnL>
                    <a:lnR w="12700" cap="flat" cmpd="sng" algn="ctr">
                      <a:solidFill>
                        <a:srgbClr val="B6BCB7"/>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B6BCB7"/>
                      </a:solidFill>
                      <a:prstDash val="solid"/>
                      <a:round/>
                      <a:headEnd type="none" w="med" len="med"/>
                      <a:tailEnd type="none" w="med" len="med"/>
                    </a:lnB>
                    <a:solidFill>
                      <a:srgbClr val="E4ECE5"/>
                    </a:solidFill>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CB7"/>
                      </a:solidFill>
                      <a:prstDash val="solid"/>
                      <a:round/>
                      <a:headEnd type="none" w="med" len="med"/>
                      <a:tailEnd type="none" w="med" len="med"/>
                    </a:lnL>
                    <a:lnR w="12700" cap="flat" cmpd="sng" algn="ctr">
                      <a:solidFill>
                        <a:srgbClr val="B6BCB7"/>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B6BCB7"/>
                      </a:solidFill>
                      <a:prstDash val="solid"/>
                      <a:round/>
                      <a:headEnd type="none" w="med" len="med"/>
                      <a:tailEnd type="none" w="med" len="med"/>
                    </a:lnB>
                    <a:solidFill>
                      <a:srgbClr val="E4ECE5"/>
                    </a:solidFill>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2</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6BCB7"/>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Research and design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6BCB7"/>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App review, user stories, wireframes of each screen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6BCB7"/>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6BCB7"/>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3</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Web basics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Page layout in HTML and CSS with a barcode box</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API in JavaScript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Barcode lookup with fetch(), showing name and calories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5</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Food Score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Score out of 100 from Nutri-Score and processing; missing data handled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O2</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6</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Search by name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Type a food name and pick from a results list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DELIVERY PLAN · WEEKS 7–11</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The daily log, testing and launch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53700" cy="2155924"/>
        </p:xfrm>
        <a:graphic>
          <a:graphicData uri="http://schemas.openxmlformats.org/drawingml/2006/table">
            <a:tbl>
              <a:tblPr/>
              <a:tblGrid>
                <a:gridCol w="844296"/>
                <a:gridCol w="2532888"/>
                <a:gridCol w="5910072"/>
                <a:gridCol w="1266444"/>
              </a:tblGrid>
              <a:tr h="359321">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Week</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Focus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Deliverable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c>
                  <a:txBody>
                    <a:bodyPr/>
                    <a:lstStyle/>
                    <a:p>
                      <a:pPr indent="0" marL="0">
                        <a:lnSpc>
                          <a:spcPts val="1820"/>
                        </a:lnSpc>
                        <a:buNone/>
                      </a:pPr>
                      <a:r>
                        <a:rPr lang="en-US" sz="1300" b="1" dirty="0">
                          <a:solidFill>
                            <a:srgbClr val="16302B"/>
                          </a:solidFill>
                          <a:latin typeface="Nunito Sans" pitchFamily="34" charset="0"/>
                          <a:ea typeface="Nunito Sans" pitchFamily="34" charset="-122"/>
                          <a:cs typeface="Nunito Sans" pitchFamily="34" charset="-120"/>
                        </a:rPr>
                        <a:t>Objective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4B6B1"/>
                      </a:solidFill>
                      <a:prstDash val="solid"/>
                      <a:round/>
                      <a:headEnd type="none" w="med" len="med"/>
                      <a:tailEnd type="none" w="med" len="med"/>
                    </a:lnL>
                    <a:lnR w="12700" cap="flat" cmpd="sng" algn="ctr">
                      <a:solidFill>
                        <a:srgbClr val="B4B6B1"/>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B4B6B1"/>
                      </a:solidFill>
                      <a:prstDash val="solid"/>
                      <a:round/>
                      <a:headEnd type="none" w="med" len="med"/>
                      <a:tailEnd type="none" w="med" len="med"/>
                    </a:lnB>
                    <a:solidFill>
                      <a:srgbClr val="E1E4DE"/>
                    </a:solidFill>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7</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Daily log</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Add foods with a portion size; calories worked out per portion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O3</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B4B6B1"/>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8</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Daily summary</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Daily total, average Food Score, log saved in the browser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O3, O4</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9</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Design and testing</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Phone-friendly layout; tested with 5 people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O5</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Improve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Fix issues from testing; README and documentation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c>
                  <a:txBody>
                    <a:bodyPr/>
                    <a:lstStyle/>
                    <a:p>
                      <a:pPr indent="0" marL="0">
                        <a:lnSpc>
                          <a:spcPts val="1820"/>
                        </a:lnSpc>
                        <a:buNone/>
                      </a:pPr>
                      <a:r>
                        <a:rPr lang="en-US" sz="1300" dirty="0">
                          <a:solidFill>
                            <a:srgbClr val="16302B"/>
                          </a:solidFill>
                          <a:latin typeface="Nunito Sans" pitchFamily="34" charset="0"/>
                          <a:ea typeface="Nunito Sans" pitchFamily="34" charset="-122"/>
                          <a:cs typeface="Nunito Sans" pitchFamily="34" charset="-120"/>
                        </a:rPr>
                        <a:t>O5</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C2C4BF"/>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C2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F2A25C"/>
                          </a:solidFill>
                          <a:latin typeface="Nunito Sans" pitchFamily="34" charset="0"/>
                          <a:ea typeface="Nunito Sans" pitchFamily="34" charset="-122"/>
                          <a:cs typeface="Nunito Sans" pitchFamily="34" charset="-120"/>
                        </a:rPr>
                        <a:t>11</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2C4BF"/>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indent="0" marL="0">
                        <a:lnSpc>
                          <a:spcPts val="1820"/>
                        </a:lnSpc>
                        <a:buNone/>
                      </a:pPr>
                      <a:r>
                        <a:rPr lang="en-US" sz="1300" dirty="0">
                          <a:solidFill>
                            <a:srgbClr val="F3F6F0"/>
                          </a:solidFill>
                          <a:latin typeface="Nunito Sans" pitchFamily="34" charset="0"/>
                          <a:ea typeface="Nunito Sans" pitchFamily="34" charset="-122"/>
                          <a:cs typeface="Nunito Sans" pitchFamily="34" charset="-120"/>
                        </a:rPr>
                        <a:t>MVP launch</a:t>
                      </a:r>
                      <a:endParaRPr lang="en-US" sz="1300" dirty="0">
                        <a:latin typeface="Nunito Sans" charset="0"/>
                        <a:ea typeface="Nunito Sans" charset="0"/>
                        <a:cs typeface="Nunito Sans" charset="0"/>
                      </a:endParaRPr>
                    </a:p>
                  </a:txBody>
                  <a:tcPr marL="57785" marR="57785" marT="57785" marB="5778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indent="0" marL="0">
                        <a:lnSpc>
                          <a:spcPts val="1820"/>
                        </a:lnSpc>
                        <a:buNone/>
                      </a:pPr>
                      <a:r>
                        <a:rPr lang="en-US" sz="1300" dirty="0">
                          <a:solidFill>
                            <a:srgbClr val="F3F6F0"/>
                          </a:solidFill>
                          <a:latin typeface="Nunito Sans" pitchFamily="34" charset="0"/>
                          <a:ea typeface="Nunito Sans" pitchFamily="34" charset="-122"/>
                          <a:cs typeface="Nunito Sans" pitchFamily="34" charset="-120"/>
                        </a:rPr>
                        <a:t>Final checks, website online, demo and reflection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c>
                  <a:txBody>
                    <a:bodyPr/>
                    <a:lstStyle/>
                    <a:p>
                      <a:pPr indent="0" marL="0">
                        <a:lnSpc>
                          <a:spcPts val="1820"/>
                        </a:lnSpc>
                        <a:buNone/>
                      </a:pPr>
                      <a:r>
                        <a:rPr lang="en-US" sz="1300" dirty="0">
                          <a:solidFill>
                            <a:srgbClr val="F3F6F0"/>
                          </a:solidFill>
                          <a:latin typeface="Nunito Sans" pitchFamily="34" charset="0"/>
                          <a:ea typeface="Nunito Sans" pitchFamily="34" charset="-122"/>
                          <a:cs typeface="Nunito Sans" pitchFamily="34" charset="-120"/>
                        </a:rPr>
                        <a:t>All</a:t>
                      </a:r>
                      <a:endParaRPr lang="en-US" sz="1300" dirty="0">
                        <a:latin typeface="Nunito Sans" charset="0"/>
                        <a:ea typeface="Nunito Sans" charset="0"/>
                        <a:cs typeface="Nunito Sans" charset="0"/>
                      </a:endParaRPr>
                    </a:p>
                  </a:txBody>
                  <a:tcPr marL="57785" marR="57785" marT="57785" marB="57785" anchor="t">
                    <a:lnL w="12700" cap="flat" cmpd="sng" algn="ctr">
                      <a:solidFill>
                        <a:srgbClr val="162A26"/>
                      </a:solidFill>
                      <a:prstDash val="solid"/>
                      <a:round/>
                      <a:headEnd type="none" w="med" len="med"/>
                      <a:tailEnd type="none" w="med" len="med"/>
                    </a:lnL>
                    <a:lnR w="12700" cap="flat" cmpd="sng" algn="ctr">
                      <a:solidFill>
                        <a:srgbClr val="162A26"/>
                      </a:solidFill>
                      <a:prstDash val="solid"/>
                      <a:round/>
                      <a:headEnd type="none" w="med" len="med"/>
                      <a:tailEnd type="none" w="med" len="med"/>
                    </a:lnR>
                    <a:lnT w="12700" cap="flat" cmpd="sng" algn="ctr">
                      <a:solidFill>
                        <a:srgbClr val="C2C4BF"/>
                      </a:solidFill>
                      <a:prstDash val="solid"/>
                      <a:round/>
                      <a:headEnd type="none" w="med" len="med"/>
                      <a:tailEnd type="none" w="med" len="med"/>
                    </a:lnT>
                    <a:lnB w="12700" cap="flat" cmpd="sng" algn="ctr">
                      <a:solidFill>
                        <a:srgbClr val="162A26"/>
                      </a:solidFill>
                      <a:prstDash val="solid"/>
                      <a:round/>
                      <a:headEnd type="none" w="med" len="med"/>
                      <a:tailEnd type="none" w="med" len="med"/>
                    </a:lnB>
                    <a:solidFill>
                      <a:srgbClr val="16302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4ECE5"/>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5481F"/>
                </a:solidFill>
                <a:latin typeface="Nunito Sans" pitchFamily="34" charset="0"/>
                <a:ea typeface="Nunito Sans" pitchFamily="34" charset="-122"/>
                <a:cs typeface="Nunito Sans" pitchFamily="34" charset="-120"/>
              </a:rPr>
              <a:t>TRACKING PROGRESS</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302B"/>
                </a:solidFill>
                <a:latin typeface="Rubik" pitchFamily="34" charset="0"/>
                <a:ea typeface="Rubik" pitchFamily="34" charset="-122"/>
                <a:cs typeface="Rubik" pitchFamily="34" charset="-120"/>
              </a:rPr>
              <a:t>Every week is visible on GitHub</a:t>
            </a:r>
            <a:endParaRPr lang="en-US" sz="3600" dirty="0"/>
          </a:p>
        </p:txBody>
      </p:sp>
      <p:sp>
        <p:nvSpPr>
          <p:cNvPr id="4" name="Shape 2"/>
          <p:cNvSpPr/>
          <p:nvPr/>
        </p:nvSpPr>
        <p:spPr>
          <a:xfrm>
            <a:off x="815975" y="1974155"/>
            <a:ext cx="5175250" cy="1833860"/>
          </a:xfrm>
          <a:prstGeom prst="roundRect">
            <a:avLst>
              <a:gd name="adj" fmla="val 6752"/>
            </a:avLst>
          </a:prstGeom>
          <a:solidFill>
            <a:srgbClr val="FCFDFB"/>
          </a:solidFill>
          <a:ln w="6350">
            <a:solidFill>
              <a:srgbClr val="CBD8CF"/>
            </a:solidFill>
            <a:prstDash val="solid"/>
          </a:ln>
        </p:spPr>
      </p:sp>
      <p:sp>
        <p:nvSpPr>
          <p:cNvPr id="5" name="Text 3"/>
          <p:cNvSpPr/>
          <p:nvPr/>
        </p:nvSpPr>
        <p:spPr>
          <a:xfrm>
            <a:off x="1073150" y="22313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Git commits: the code</a:t>
            </a:r>
            <a:endParaRPr lang="en-US" sz="2200" dirty="0"/>
          </a:p>
        </p:txBody>
      </p:sp>
      <p:sp>
        <p:nvSpPr>
          <p:cNvPr id="6" name="Text 4"/>
          <p:cNvSpPr/>
          <p:nvPr/>
        </p:nvSpPr>
        <p:spPr>
          <a:xfrm>
            <a:off x="1144270" y="2693591"/>
            <a:ext cx="4721987"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A commit after every work session</a:t>
            </a:r>
            <a:endParaRPr lang="en-US" sz="1500" dirty="0"/>
          </a:p>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Clear messages, like “Add Food Score”</a:t>
            </a:r>
            <a:endParaRPr lang="en-US" sz="1500" dirty="0"/>
          </a:p>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The history proves the work week by week</a:t>
            </a:r>
            <a:endParaRPr lang="en-US" sz="1500" dirty="0"/>
          </a:p>
        </p:txBody>
      </p:sp>
      <p:sp>
        <p:nvSpPr>
          <p:cNvPr id="7" name="Shape 5"/>
          <p:cNvSpPr/>
          <p:nvPr/>
        </p:nvSpPr>
        <p:spPr>
          <a:xfrm>
            <a:off x="6200775" y="1974155"/>
            <a:ext cx="5175250" cy="1833860"/>
          </a:xfrm>
          <a:prstGeom prst="roundRect">
            <a:avLst>
              <a:gd name="adj" fmla="val 6752"/>
            </a:avLst>
          </a:prstGeom>
          <a:solidFill>
            <a:srgbClr val="FCFDFB"/>
          </a:solidFill>
          <a:ln w="6350">
            <a:solidFill>
              <a:srgbClr val="CBD8CF"/>
            </a:solidFill>
            <a:prstDash val="solid"/>
          </a:ln>
        </p:spPr>
      </p:sp>
      <p:sp>
        <p:nvSpPr>
          <p:cNvPr id="8" name="Text 6"/>
          <p:cNvSpPr/>
          <p:nvPr/>
        </p:nvSpPr>
        <p:spPr>
          <a:xfrm>
            <a:off x="6457950" y="2231330"/>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302B"/>
                </a:solidFill>
                <a:latin typeface="Rubik" pitchFamily="34" charset="0"/>
                <a:ea typeface="Rubik" pitchFamily="34" charset="-122"/>
                <a:cs typeface="Rubik" pitchFamily="34" charset="-120"/>
              </a:rPr>
              <a:t>Project board: the plan</a:t>
            </a:r>
            <a:endParaRPr lang="en-US" sz="2200" dirty="0"/>
          </a:p>
        </p:txBody>
      </p:sp>
      <p:sp>
        <p:nvSpPr>
          <p:cNvPr id="9" name="Text 7"/>
          <p:cNvSpPr/>
          <p:nvPr/>
        </p:nvSpPr>
        <p:spPr>
          <a:xfrm>
            <a:off x="6529070" y="2693591"/>
            <a:ext cx="4721987"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Each week’s tasks set as a milestone</a:t>
            </a:r>
            <a:endParaRPr lang="en-US" sz="1500" dirty="0"/>
          </a:p>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Tasks move from To do to Doing to Done</a:t>
            </a:r>
            <a:endParaRPr lang="en-US" sz="1500" dirty="0"/>
          </a:p>
          <a:p>
            <a:pPr algn="l" marL="182880" indent="-182880">
              <a:lnSpc>
                <a:spcPts val="2250"/>
              </a:lnSpc>
              <a:buSzPct val="100000"/>
              <a:buChar char="•"/>
            </a:pPr>
            <a:r>
              <a:rPr lang="en-US" sz="1500" dirty="0">
                <a:solidFill>
                  <a:srgbClr val="4A5C56"/>
                </a:solidFill>
                <a:latin typeface="Nunito Sans" pitchFamily="34" charset="0"/>
                <a:ea typeface="Nunito Sans" pitchFamily="34" charset="-122"/>
                <a:cs typeface="Nunito Sans" pitchFamily="34" charset="-120"/>
              </a:rPr>
              <a:t>Shows what I planned against what I finished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02B"/>
        </a:solidFill>
      </p:bgPr>
    </p:bg>
    <p:spTree>
      <p:nvGrpSpPr>
        <p:cNvPr id="1" name=""/>
        <p:cNvGrpSpPr/>
        <p:nvPr/>
      </p:nvGrpSpPr>
      <p:grpSpPr>
        <a:xfrm>
          <a:off x="0" y="0"/>
          <a:ext cx="0" cy="0"/>
          <a:chOff x="0" y="0"/>
          <a:chExt cx="0" cy="0"/>
        </a:xfrm>
      </p:grpSpPr>
      <p:sp>
        <p:nvSpPr>
          <p:cNvPr id="2" name="Text 0"/>
          <p:cNvSpPr/>
          <p:nvPr>
            <p:ph type="title"/>
          </p:nvPr>
        </p:nvSpPr>
        <p:spPr>
          <a:xfrm>
            <a:off x="812800" y="249431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3F6F0"/>
                </a:solidFill>
                <a:latin typeface="Rubik" pitchFamily="34" charset="0"/>
                <a:ea typeface="Rubik" pitchFamily="34" charset="-122"/>
                <a:cs typeface="Rubik" pitchFamily="34" charset="-120"/>
              </a:rPr>
              <a:t>Questions?</a:t>
            </a:r>
            <a:endParaRPr lang="en-US" sz="7000" dirty="0"/>
          </a:p>
        </p:txBody>
      </p:sp>
      <p:sp>
        <p:nvSpPr>
          <p:cNvPr id="3" name="Text 1"/>
          <p:cNvSpPr/>
          <p:nvPr/>
        </p:nvSpPr>
        <p:spPr>
          <a:xfrm>
            <a:off x="812800" y="3637310"/>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3CB"/>
                </a:solidFill>
                <a:latin typeface="Nunito Sans" pitchFamily="34" charset="0"/>
                <a:ea typeface="Nunito Sans" pitchFamily="34" charset="-122"/>
                <a:cs typeface="Nunito Sans" pitchFamily="34" charset="-120"/>
              </a:rPr>
              <a:t>KcalScore: calories and one Food Score out of 100, in one daily log.</a:t>
            </a:r>
            <a:endParaRPr lang="en-US" sz="2200" dirty="0"/>
          </a:p>
        </p:txBody>
      </p:sp>
    </p:spTree>
  </p:cSld>
  <p:clrMapOvr>
    <a:masterClrMapping/>
  </p:clrMapOvr>
</p:sld>
</file>

<file path=ppt/theme/theme1.xml><?xml version="1.0" encoding="utf-8"?>
<a:theme xmlns:a="http://schemas.openxmlformats.org/drawingml/2006/main" name="KcalScore">
  <a:themeElements>
    <a:clrScheme name="KcalScore">
      <a:dk1>
        <a:srgbClr val="16302B"/>
      </a:dk1>
      <a:lt1>
        <a:srgbClr val="F3F6F0"/>
      </a:lt1>
      <a:dk2>
        <a:srgbClr val="4D625C"/>
      </a:dk2>
      <a:lt2>
        <a:srgbClr val="DDE2DC"/>
      </a:lt2>
      <a:accent1>
        <a:srgbClr val="B5481F"/>
      </a:accent1>
      <a:accent2>
        <a:srgbClr val="F2A25C"/>
      </a:accent2>
      <a:accent3>
        <a:srgbClr val="4A5C56"/>
      </a:accent3>
      <a:accent4>
        <a:srgbClr val="BFD3CB"/>
      </a:accent4>
      <a:accent5>
        <a:srgbClr val="244A42"/>
      </a:accent5>
      <a:accent6>
        <a:srgbClr val="9AA0A6"/>
      </a:accent6>
      <a:hlink>
        <a:srgbClr val="0563C1"/>
      </a:hlink>
      <a:folHlink>
        <a:srgbClr val="954F72"/>
      </a:folHlink>
    </a:clrScheme>
    <a:fontScheme name="KcalScor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KcalScore</dc:title>
  <dc:subject/>
  <dc:creator/>
  <cp:lastModifiedBy/>
  <cp:revision>1</cp:revision>
  <dcterms:created xsi:type="dcterms:W3CDTF">2026-10-20T15:26:45Z</dcterms:created>
  <dcterms:modified xsi:type="dcterms:W3CDTF">2026-10-20T15:26:45Z</dcterms:modified>
</cp:coreProperties>
</file>